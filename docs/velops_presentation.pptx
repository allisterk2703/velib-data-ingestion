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Helvetica Neue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460f4f2d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460f4f2d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607be1be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607be1be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460f4f2d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460f4f2d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655ce3f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655ce3f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07be1be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07be1be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655ce3f3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655ce3f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07be1be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607be1be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52b0543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652b0543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52b05439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652b05439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ontact@allisterkohn.com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velib-metropole.fr/donnees-open-data-gbfs-du-service-velib-metropol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www.group-indigo.com/metier/smovengo/" TargetMode="External"/><Relationship Id="rId5" Type="http://schemas.openxmlformats.org/officeDocument/2006/relationships/hyperlink" Target="https://www.smovengo.fr/" TargetMode="External"/><Relationship Id="rId6" Type="http://schemas.openxmlformats.org/officeDocument/2006/relationships/hyperlink" Target="https://www.velib-metropole.fr/" TargetMode="External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hyperlink" Target="mailto:contact@allisterkoh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76335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VelOps</a:t>
            </a:r>
            <a:endParaRPr>
              <a:solidFill>
                <a:srgbClr val="F5DCA1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072700"/>
            <a:ext cx="7801500" cy="11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Oswald"/>
                <a:ea typeface="Oswald"/>
                <a:cs typeface="Oswald"/>
                <a:sym typeface="Oswald"/>
              </a:rPr>
              <a:t>Allister Kohn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contact@allisterkohn.com</a:t>
            </a:r>
            <a:endParaRPr>
              <a:solidFill>
                <a:srgbClr val="F5DCA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1" name="Google Shape;61;p13" title="pngegg-modified.png"/>
          <p:cNvPicPr preferRelativeResize="0"/>
          <p:nvPr/>
        </p:nvPicPr>
        <p:blipFill rotWithShape="1">
          <a:blip r:embed="rId4">
            <a:alphaModFix amt="20000"/>
          </a:blip>
          <a:srcRect b="28422" l="11150" r="11041" t="28448"/>
          <a:stretch/>
        </p:blipFill>
        <p:spPr>
          <a:xfrm>
            <a:off x="6443825" y="3646675"/>
            <a:ext cx="2700175" cy="14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pngegg-modified.png"/>
          <p:cNvPicPr preferRelativeResize="0"/>
          <p:nvPr/>
        </p:nvPicPr>
        <p:blipFill rotWithShape="1">
          <a:blip r:embed="rId4">
            <a:alphaModFix amt="20000"/>
          </a:blip>
          <a:srcRect b="28422" l="11150" r="11041" t="28448"/>
          <a:stretch/>
        </p:blipFill>
        <p:spPr>
          <a:xfrm>
            <a:off x="0" y="3646675"/>
            <a:ext cx="2700175" cy="14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A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311700" y="1152475"/>
            <a:ext cx="567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• Allister, 23 years old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• Based in the Paris region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• Scientific Baccalaureate (2019)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• Graduate Engineer (2024)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• MSc in Data Sciences &amp; Business Analytics (2025)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• Career focus:</a:t>
            </a:r>
            <a:b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Data Science → ML Engineering </a:t>
            </a:r>
            <a:r>
              <a:rPr lang="fr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→ </a:t>
            </a:r>
            <a:r>
              <a:rPr lang="fr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MLOps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9" name="Google Shape;69;p14" title="Photo de profil - Allister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7496" y="952500"/>
            <a:ext cx="2354001" cy="2354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4"/>
          <p:cNvGrpSpPr/>
          <p:nvPr/>
        </p:nvGrpSpPr>
        <p:grpSpPr>
          <a:xfrm>
            <a:off x="5889322" y="3629625"/>
            <a:ext cx="2610348" cy="812201"/>
            <a:chOff x="5915500" y="3629625"/>
            <a:chExt cx="2610348" cy="812201"/>
          </a:xfrm>
        </p:grpSpPr>
        <p:pic>
          <p:nvPicPr>
            <p:cNvPr id="71" name="Google Shape;71;p14" title="Logo ESSEC Blanc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15500" y="3629625"/>
              <a:ext cx="868524" cy="812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4" title="Logo CentraleSupélec Blanc.png"/>
            <p:cNvPicPr preferRelativeResize="0"/>
            <p:nvPr/>
          </p:nvPicPr>
          <p:blipFill rotWithShape="1">
            <a:blip r:embed="rId5">
              <a:alphaModFix/>
            </a:blip>
            <a:srcRect b="2534" l="4872" r="3553" t="13847"/>
            <a:stretch/>
          </p:blipFill>
          <p:spPr>
            <a:xfrm>
              <a:off x="7114300" y="3671625"/>
              <a:ext cx="1411548" cy="7282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" name="Google Shape;73;p14" title="A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Who am I?</a:t>
            </a:r>
            <a:endParaRPr>
              <a:solidFill>
                <a:srgbClr val="F5DCA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017725"/>
            <a:ext cx="4428600" cy="18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</a:t>
            </a:r>
            <a:r>
              <a:rPr lang="fr" sz="15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Smovengo</a:t>
            </a: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is the operator of </a:t>
            </a:r>
            <a:r>
              <a:rPr lang="fr" sz="15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Vélib’ Métropole</a:t>
            </a: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the public bike-sharing service of the Paris metropolitan area</a:t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</a:t>
            </a: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Vélib’ is the </a:t>
            </a:r>
            <a:r>
              <a:rPr lang="fr" sz="15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largest station-based bike-sharing system</a:t>
            </a: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in the world, covering Paris and the wider Île-de-France region</a:t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Smovengo provides open access to Vélib’s real-time operational data through a </a:t>
            </a:r>
            <a:r>
              <a:rPr lang="fr" sz="1500" u="sng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 API</a:t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Vélib’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6259" l="1623" r="4568" t="5705"/>
          <a:stretch/>
        </p:blipFill>
        <p:spPr>
          <a:xfrm>
            <a:off x="1746829" y="4630679"/>
            <a:ext cx="1558342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183" y="0"/>
            <a:ext cx="41148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7959524" y="4912999"/>
            <a:ext cx="1241400" cy="2925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1"/>
                </a:solidFill>
                <a:highlight>
                  <a:srgbClr val="B1A3A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Source: </a:t>
            </a:r>
            <a:r>
              <a:rPr lang="fr" sz="700">
                <a:solidFill>
                  <a:schemeClr val="dk1"/>
                </a:solidFill>
                <a:highlight>
                  <a:srgbClr val="B1A3A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group-indigo.com</a:t>
            </a:r>
            <a:endParaRPr sz="700">
              <a:solidFill>
                <a:schemeClr val="dk1"/>
              </a:solidFill>
              <a:highlight>
                <a:srgbClr val="B1A3A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473" y="143100"/>
            <a:ext cx="1176550" cy="11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68600" y="2954700"/>
            <a:ext cx="4114800" cy="1475700"/>
          </a:xfrm>
          <a:prstGeom prst="rect">
            <a:avLst/>
          </a:prstGeom>
          <a:ln cap="flat" cmpd="sng" w="19050">
            <a:solidFill>
              <a:srgbClr val="F5DC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72000" spcFirstLastPara="1" rIns="0" wrap="square" tIns="72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523"/>
              <a:buNone/>
            </a:pP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Key figures:</a:t>
            </a:r>
            <a:b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1 station approximately every 300 meters in Paris</a:t>
            </a:r>
            <a:b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1,500 stations across Paris and the Île-de-France region</a:t>
            </a:r>
            <a:b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20,000 bicycles, including 40% electric-assisted bikes</a:t>
            </a:r>
            <a:b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fr"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940,000 unique users in 2025</a:t>
            </a:r>
            <a:endParaRPr sz="1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Introduction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91" name="Google Shape;91;p16" title="A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15000" y="1017727"/>
            <a:ext cx="8417400" cy="3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VelOps is an end-to-end 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machine learning project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using Vélib’ data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Its goal is to 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predict bike availability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states at station level within a two-hour horizon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The system runs on a Raspberry Pi, highlighting a lightweight and resource-efficient setup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The project relies on a broad set of 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modern data technologies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across the full workflow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• The project is structured into two independent components: one dedicated to 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data ingestion and transformation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and another focused on 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machine learning</a:t>
            </a:r>
            <a:endParaRPr sz="1700">
              <a:solidFill>
                <a:srgbClr val="F5DCA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93" name="Google Shape;93;p16" title="pngegg-modified.png"/>
          <p:cNvPicPr preferRelativeResize="0"/>
          <p:nvPr/>
        </p:nvPicPr>
        <p:blipFill rotWithShape="1">
          <a:blip r:embed="rId4">
            <a:alphaModFix amt="20000"/>
          </a:blip>
          <a:srcRect b="28422" l="11150" r="11041" t="28448"/>
          <a:stretch/>
        </p:blipFill>
        <p:spPr>
          <a:xfrm>
            <a:off x="3567647" y="3628100"/>
            <a:ext cx="2112100" cy="11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Infrastructure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99" name="Google Shape;99;p17" title="A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velops-RPI Setup.png"/>
          <p:cNvPicPr preferRelativeResize="0"/>
          <p:nvPr/>
        </p:nvPicPr>
        <p:blipFill rotWithShape="1">
          <a:blip r:embed="rId4">
            <a:alphaModFix/>
          </a:blip>
          <a:srcRect b="0" l="40" r="30" t="0"/>
          <a:stretch/>
        </p:blipFill>
        <p:spPr>
          <a:xfrm>
            <a:off x="1830100" y="1096750"/>
            <a:ext cx="548378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Data Ingestion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106" name="Google Shape;106;p18" title="A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1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>
            <a:off x="1319563" y="1103875"/>
            <a:ext cx="650486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Data Transformation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113" name="Google Shape;113;p19" title="A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3188" y="1121050"/>
            <a:ext cx="637763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Machine Learning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120" name="Google Shape;120;p20" title="A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0737" y="1737921"/>
            <a:ext cx="442593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 title="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000" y="2476000"/>
            <a:ext cx="8417398" cy="2240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415000" y="1017726"/>
            <a:ext cx="84174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The dataset covers a 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5-week period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, which corresponds to 35 days = 840 hours = 3,360 15-minute intervals. Given the 1,500 stations in the network, this results in a total of</a:t>
            </a:r>
            <a:r>
              <a:rPr lang="fr" sz="1700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</a:rPr>
              <a:t> 5,040,000 status records</a:t>
            </a:r>
            <a:r>
              <a:rPr lang="fr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5DCA1"/>
                </a:solidFill>
              </a:rPr>
              <a:t>Sources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129" name="Google Shape;129;p21" title="A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8151" y="225401"/>
            <a:ext cx="370350" cy="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u="sng">
                <a:solidFill>
                  <a:srgbClr val="F5DCA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https://www.group-indigo.com/metier/smovengo/</a:t>
            </a:r>
            <a:endParaRPr>
              <a:solidFill>
                <a:srgbClr val="F5DCA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u="sng">
                <a:solidFill>
                  <a:srgbClr val="F5DCA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https://www.smovengo.fr/</a:t>
            </a:r>
            <a:endParaRPr>
              <a:solidFill>
                <a:srgbClr val="F5DCA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u="sng">
                <a:solidFill>
                  <a:srgbClr val="F5DCA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https://www.velib-metropole.fr/</a:t>
            </a:r>
            <a:endParaRPr>
              <a:solidFill>
                <a:srgbClr val="F5DCA1"/>
              </a:solidFill>
            </a:endParaRPr>
          </a:p>
        </p:txBody>
      </p:sp>
      <p:pic>
        <p:nvPicPr>
          <p:cNvPr id="131" name="Google Shape;131;p21" title="pngegg-modified.png"/>
          <p:cNvPicPr preferRelativeResize="0"/>
          <p:nvPr/>
        </p:nvPicPr>
        <p:blipFill rotWithShape="1">
          <a:blip r:embed="rId7">
            <a:alphaModFix amt="20000"/>
          </a:blip>
          <a:srcRect b="28422" l="11150" r="11041" t="28448"/>
          <a:stretch/>
        </p:blipFill>
        <p:spPr>
          <a:xfrm>
            <a:off x="3567647" y="3628100"/>
            <a:ext cx="2112100" cy="11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932"/>
            <a:ext cx="9128177" cy="5152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0" y="2995075"/>
            <a:ext cx="91440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Contact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u="sng">
                <a:solidFill>
                  <a:srgbClr val="F5DCA1"/>
                </a:solidFill>
                <a:latin typeface="Oswald"/>
                <a:ea typeface="Oswald"/>
                <a:cs typeface="Oswald"/>
                <a:sym typeface="Oswa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contact@allisterkohn.com</a:t>
            </a:r>
            <a:endParaRPr sz="2400">
              <a:solidFill>
                <a:srgbClr val="F5DCA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