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embeddedFontLst>
    <p:embeddedFont>
      <p:font typeface="Average"/>
      <p:regular r:id="rId16"/>
    </p:embeddedFont>
    <p:embeddedFont>
      <p:font typeface="Helvetica Neue"/>
      <p:regular r:id="rId17"/>
      <p:bold r:id="rId18"/>
      <p:italic r:id="rId19"/>
      <p:boldItalic r:id="rId20"/>
    </p:embeddedFont>
    <p:embeddedFont>
      <p:font typeface="Oswald"/>
      <p:regular r:id="rId21"/>
      <p:bold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HelveticaNeue-boldItalic.fntdata"/><Relationship Id="rId11" Type="http://schemas.openxmlformats.org/officeDocument/2006/relationships/slide" Target="slides/slide6.xml"/><Relationship Id="rId22" Type="http://schemas.openxmlformats.org/officeDocument/2006/relationships/font" Target="fonts/Oswald-bold.fntdata"/><Relationship Id="rId10" Type="http://schemas.openxmlformats.org/officeDocument/2006/relationships/slide" Target="slides/slide5.xml"/><Relationship Id="rId21" Type="http://schemas.openxmlformats.org/officeDocument/2006/relationships/font" Target="fonts/Oswald-regular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HelveticaNeue-regular.fntdata"/><Relationship Id="rId16" Type="http://schemas.openxmlformats.org/officeDocument/2006/relationships/font" Target="fonts/Average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HelveticaNeue-italic.fntdata"/><Relationship Id="rId6" Type="http://schemas.openxmlformats.org/officeDocument/2006/relationships/slide" Target="slides/slide1.xml"/><Relationship Id="rId18" Type="http://schemas.openxmlformats.org/officeDocument/2006/relationships/font" Target="fonts/HelveticaNeue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460f4f2db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c460f4f2db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607be1be3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607be1be3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c460f4f2db_1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c460f4f2db_1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655ce3f3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655ce3f3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607be1be3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607be1be3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e54b99149b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e54b99149b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607be1be3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607be1be3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c652b05439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c652b05439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652b05439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652b05439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55275"/>
            <a:ext cx="8520600" cy="189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lat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mailto:contact@allisterkohn.com" TargetMode="External"/><Relationship Id="rId4" Type="http://schemas.openxmlformats.org/officeDocument/2006/relationships/image" Target="../media/image13.png"/><Relationship Id="rId5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velib-metropole.fr/donnees-open-data-gbfs-du-service-velib-metropole" TargetMode="External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Relationship Id="rId5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hyperlink" Target="https://www.group-indigo.com/metier/smovengo/" TargetMode="External"/><Relationship Id="rId5" Type="http://schemas.openxmlformats.org/officeDocument/2006/relationships/hyperlink" Target="https://www.smovengo.fr/" TargetMode="External"/><Relationship Id="rId6" Type="http://schemas.openxmlformats.org/officeDocument/2006/relationships/hyperlink" Target="https://www.velib-metropole.fr/" TargetMode="External"/><Relationship Id="rId7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hyperlink" Target="mailto:contact@allisterkohn.com" TargetMode="External"/><Relationship Id="rId5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671258" y="76335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rgbClr val="F5DCA1"/>
                </a:solidFill>
              </a:rPr>
              <a:t>VelOps</a:t>
            </a:r>
            <a:endParaRPr>
              <a:solidFill>
                <a:srgbClr val="F5DCA1"/>
              </a:solidFill>
            </a:endParaRPr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671250" y="3072700"/>
            <a:ext cx="7801500" cy="11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latin typeface="Oswald"/>
                <a:ea typeface="Oswald"/>
                <a:cs typeface="Oswald"/>
                <a:sym typeface="Oswald"/>
              </a:rPr>
              <a:t>Allister Kohn</a:t>
            </a:r>
            <a:endParaRPr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u="sng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contact@allisterkohn.com</a:t>
            </a:r>
            <a:endParaRPr>
              <a:solidFill>
                <a:srgbClr val="F5DCA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61" name="Google Shape;61;p13" title="pngegg-modified.png"/>
          <p:cNvPicPr preferRelativeResize="0"/>
          <p:nvPr/>
        </p:nvPicPr>
        <p:blipFill rotWithShape="1">
          <a:blip r:embed="rId4">
            <a:alphaModFix amt="20000"/>
          </a:blip>
          <a:srcRect b="28422" l="11150" r="11041" t="28448"/>
          <a:stretch/>
        </p:blipFill>
        <p:spPr>
          <a:xfrm>
            <a:off x="6443825" y="3646675"/>
            <a:ext cx="2700175" cy="149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3" title="pngegg-modified.png"/>
          <p:cNvPicPr preferRelativeResize="0"/>
          <p:nvPr/>
        </p:nvPicPr>
        <p:blipFill rotWithShape="1">
          <a:blip r:embed="rId4">
            <a:alphaModFix amt="20000"/>
          </a:blip>
          <a:srcRect b="28422" l="11150" r="11041" t="28448"/>
          <a:stretch/>
        </p:blipFill>
        <p:spPr>
          <a:xfrm>
            <a:off x="0" y="3646675"/>
            <a:ext cx="2700175" cy="149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3" title="AK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38151" y="225401"/>
            <a:ext cx="370350" cy="37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/>
          <p:nvPr/>
        </p:nvSpPr>
        <p:spPr>
          <a:xfrm>
            <a:off x="311700" y="1152475"/>
            <a:ext cx="56703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• Allister, 23 years old</a:t>
            </a:r>
            <a:endParaRPr sz="18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• Based in the Paris region</a:t>
            </a:r>
            <a:endParaRPr sz="18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• Scientific Baccalaureate (2019)</a:t>
            </a:r>
            <a:endParaRPr sz="18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• Graduate Engineer (2024)</a:t>
            </a:r>
            <a:endParaRPr sz="18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• MSc in Data Sciences &amp; Business Analytics (2025)</a:t>
            </a:r>
            <a:endParaRPr sz="18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fr" sz="18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• Career focus:</a:t>
            </a:r>
            <a:br>
              <a:rPr lang="fr" sz="18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rPr lang="fr" sz="18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Data Science → ML Engineering </a:t>
            </a:r>
            <a:r>
              <a:rPr lang="fr" sz="18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→ </a:t>
            </a:r>
            <a:r>
              <a:rPr lang="fr" sz="18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MLOps</a:t>
            </a:r>
            <a:endParaRPr sz="18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69" name="Google Shape;69;p14" title="Photo de profil - Allister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17496" y="952500"/>
            <a:ext cx="2354001" cy="23540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" name="Google Shape;70;p14"/>
          <p:cNvGrpSpPr/>
          <p:nvPr/>
        </p:nvGrpSpPr>
        <p:grpSpPr>
          <a:xfrm>
            <a:off x="5889322" y="3629625"/>
            <a:ext cx="2610348" cy="812201"/>
            <a:chOff x="5915500" y="3629625"/>
            <a:chExt cx="2610348" cy="812201"/>
          </a:xfrm>
        </p:grpSpPr>
        <p:pic>
          <p:nvPicPr>
            <p:cNvPr id="71" name="Google Shape;71;p14" title="Logo ESSEC Blanc.png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915500" y="3629625"/>
              <a:ext cx="868524" cy="8122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2" name="Google Shape;72;p14" title="Logo CentraleSupélec Blanc.png"/>
            <p:cNvPicPr preferRelativeResize="0"/>
            <p:nvPr/>
          </p:nvPicPr>
          <p:blipFill rotWithShape="1">
            <a:blip r:embed="rId5">
              <a:alphaModFix/>
            </a:blip>
            <a:srcRect b="2534" l="4872" r="3553" t="13847"/>
            <a:stretch/>
          </p:blipFill>
          <p:spPr>
            <a:xfrm>
              <a:off x="7114300" y="3671625"/>
              <a:ext cx="1411548" cy="728201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73" name="Google Shape;73;p14" title="AK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538151" y="225401"/>
            <a:ext cx="370350" cy="37035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rgbClr val="F5DCA1"/>
                </a:solidFill>
              </a:rPr>
              <a:t>Who am I?</a:t>
            </a:r>
            <a:endParaRPr>
              <a:solidFill>
                <a:srgbClr val="F5DCA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1017725"/>
            <a:ext cx="4428600" cy="186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</a:t>
            </a:r>
            <a:r>
              <a:rPr lang="fr" sz="15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Smovengo</a:t>
            </a: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is the operator of </a:t>
            </a:r>
            <a:r>
              <a:rPr lang="fr" sz="15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Vélib’ Métropole</a:t>
            </a: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, the public bike-sharing service of the Paris metropolitan area</a:t>
            </a:r>
            <a:endParaRPr sz="1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523"/>
              <a:buNone/>
            </a:pP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</a:t>
            </a: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Vélib’ is the </a:t>
            </a:r>
            <a:r>
              <a:rPr lang="fr" sz="15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largest station-based bike-sharing system</a:t>
            </a: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in the world, covering Paris and the wider Île-de-France region</a:t>
            </a:r>
            <a:endParaRPr sz="1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Smovengo provides open access to Vélib’s real-time operational data through a </a:t>
            </a:r>
            <a:r>
              <a:rPr lang="fr" sz="1500" u="sng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public API</a:t>
            </a:r>
            <a:endParaRPr sz="1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523"/>
              <a:buNone/>
            </a:pPr>
            <a:r>
              <a:t/>
            </a:r>
            <a:endParaRPr sz="1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80" name="Google Shape;80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rgbClr val="F5DCA1"/>
                </a:solidFill>
              </a:rPr>
              <a:t>Vélib’</a:t>
            </a:r>
            <a:endParaRPr>
              <a:solidFill>
                <a:srgbClr val="F5DCA1"/>
              </a:solidFill>
            </a:endParaRPr>
          </a:p>
        </p:txBody>
      </p:sp>
      <p:pic>
        <p:nvPicPr>
          <p:cNvPr id="81" name="Google Shape;81;p15"/>
          <p:cNvPicPr preferRelativeResize="0"/>
          <p:nvPr/>
        </p:nvPicPr>
        <p:blipFill rotWithShape="1">
          <a:blip r:embed="rId4">
            <a:alphaModFix/>
          </a:blip>
          <a:srcRect b="6259" l="1623" r="4568" t="5705"/>
          <a:stretch/>
        </p:blipFill>
        <p:spPr>
          <a:xfrm>
            <a:off x="1746829" y="4630679"/>
            <a:ext cx="1558342" cy="29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29183" y="0"/>
            <a:ext cx="41148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/>
          <p:nvPr/>
        </p:nvSpPr>
        <p:spPr>
          <a:xfrm>
            <a:off x="7959524" y="4912999"/>
            <a:ext cx="1241400" cy="292500"/>
          </a:xfrm>
          <a:prstGeom prst="rect">
            <a:avLst/>
          </a:prstGeom>
          <a:noFill/>
          <a:ln>
            <a:noFill/>
          </a:ln>
          <a:effectLst>
            <a:outerShdw rotWithShape="0" algn="bl">
              <a:srgbClr val="000000">
                <a:alpha val="0"/>
              </a:srgbClr>
            </a:outerShdw>
          </a:effectLst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fr" sz="700">
                <a:solidFill>
                  <a:schemeClr val="dk1"/>
                </a:solidFill>
                <a:highlight>
                  <a:srgbClr val="B1A3A0"/>
                </a:highlight>
                <a:latin typeface="Helvetica Neue"/>
                <a:ea typeface="Helvetica Neue"/>
                <a:cs typeface="Helvetica Neue"/>
                <a:sym typeface="Helvetica Neue"/>
              </a:rPr>
              <a:t>Source: </a:t>
            </a:r>
            <a:r>
              <a:rPr lang="fr" sz="700">
                <a:solidFill>
                  <a:schemeClr val="dk1"/>
                </a:solidFill>
                <a:highlight>
                  <a:srgbClr val="B1A3A0"/>
                </a:highlight>
                <a:latin typeface="Helvetica Neue"/>
                <a:ea typeface="Helvetica Neue"/>
                <a:cs typeface="Helvetica Neue"/>
                <a:sym typeface="Helvetica Neue"/>
              </a:rPr>
              <a:t>group-indigo.com</a:t>
            </a:r>
            <a:endParaRPr sz="700">
              <a:solidFill>
                <a:schemeClr val="dk1"/>
              </a:solidFill>
              <a:highlight>
                <a:srgbClr val="B1A3A0"/>
              </a:highlight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4" name="Google Shape;84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1473" y="143100"/>
            <a:ext cx="1176550" cy="117655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/>
          <p:nvPr>
            <p:ph idx="1" type="body"/>
          </p:nvPr>
        </p:nvSpPr>
        <p:spPr>
          <a:xfrm>
            <a:off x="468600" y="2954700"/>
            <a:ext cx="4114800" cy="1475700"/>
          </a:xfrm>
          <a:prstGeom prst="rect">
            <a:avLst/>
          </a:prstGeom>
          <a:ln cap="flat" cmpd="sng" w="19050">
            <a:solidFill>
              <a:srgbClr val="F5DC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72000" spcFirstLastPara="1" rIns="0" wrap="square" tIns="720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SzPts val="523"/>
              <a:buNone/>
            </a:pP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Key figures:</a:t>
            </a:r>
            <a:b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1 station approximately every 300 meters in Paris</a:t>
            </a:r>
            <a:b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1,500 stations across Paris and the Île-de-France region</a:t>
            </a:r>
            <a:b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20,000 bicycles, including 40% electric-assisted bikes</a:t>
            </a:r>
            <a:b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rPr lang="fr" sz="1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940,000 unique users in 2025</a:t>
            </a:r>
            <a:endParaRPr sz="1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rgbClr val="F5DCA1"/>
                </a:solidFill>
              </a:rPr>
              <a:t>Introduction</a:t>
            </a:r>
            <a:endParaRPr>
              <a:solidFill>
                <a:srgbClr val="F5DCA1"/>
              </a:solidFill>
            </a:endParaRPr>
          </a:p>
        </p:txBody>
      </p:sp>
      <p:pic>
        <p:nvPicPr>
          <p:cNvPr id="91" name="Google Shape;91;p16" title="AK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38151" y="225401"/>
            <a:ext cx="370350" cy="3703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 txBox="1"/>
          <p:nvPr>
            <p:ph idx="1" type="body"/>
          </p:nvPr>
        </p:nvSpPr>
        <p:spPr>
          <a:xfrm>
            <a:off x="415000" y="1017727"/>
            <a:ext cx="8417400" cy="37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</a:t>
            </a: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VelOps is an end-to-end </a:t>
            </a:r>
            <a:r>
              <a:rPr lang="fr" sz="17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machine learning project</a:t>
            </a: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using Vélib’ data</a:t>
            </a:r>
            <a:endParaRPr sz="17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Its goal is to </a:t>
            </a:r>
            <a:r>
              <a:rPr lang="fr" sz="17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predict bike availability</a:t>
            </a: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states at station level within a two-hour horizon</a:t>
            </a:r>
            <a:endParaRPr sz="17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The system runs on a Raspberry Pi, highlighting a lightweight and resource-efficient setup</a:t>
            </a:r>
            <a:endParaRPr sz="17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The project relies on a broad set of </a:t>
            </a:r>
            <a:r>
              <a:rPr lang="fr" sz="17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modern data technologies</a:t>
            </a: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across the full workflow</a:t>
            </a:r>
            <a:endParaRPr sz="17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• The project is structured into two independent components: one dedicated to </a:t>
            </a:r>
            <a:r>
              <a:rPr lang="fr" sz="17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data ingestion and transformation</a:t>
            </a: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, and another focused on </a:t>
            </a:r>
            <a:r>
              <a:rPr lang="fr" sz="17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machine learning</a:t>
            </a:r>
            <a:endParaRPr sz="1700">
              <a:solidFill>
                <a:srgbClr val="F5DCA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93" name="Google Shape;93;p16" title="pngegg-modified.png"/>
          <p:cNvPicPr preferRelativeResize="0"/>
          <p:nvPr/>
        </p:nvPicPr>
        <p:blipFill rotWithShape="1">
          <a:blip r:embed="rId4">
            <a:alphaModFix amt="20000"/>
          </a:blip>
          <a:srcRect b="28422" l="11150" r="11041" t="28448"/>
          <a:stretch/>
        </p:blipFill>
        <p:spPr>
          <a:xfrm>
            <a:off x="3567647" y="3628100"/>
            <a:ext cx="2112100" cy="117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rgbClr val="F5DCA1"/>
                </a:solidFill>
              </a:rPr>
              <a:t>Infrastructure</a:t>
            </a:r>
            <a:endParaRPr>
              <a:solidFill>
                <a:srgbClr val="F5DCA1"/>
              </a:solidFill>
            </a:endParaRPr>
          </a:p>
        </p:txBody>
      </p:sp>
      <p:pic>
        <p:nvPicPr>
          <p:cNvPr id="99" name="Google Shape;99;p17" title="AK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38151" y="225401"/>
            <a:ext cx="370350" cy="370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 title="velops-Infrastucture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25125" y="1093425"/>
            <a:ext cx="5893750" cy="377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rgbClr val="F5DCA1"/>
                </a:solidFill>
              </a:rPr>
              <a:t>Data Ingestion</a:t>
            </a:r>
            <a:endParaRPr>
              <a:solidFill>
                <a:srgbClr val="F5DCA1"/>
              </a:solidFill>
            </a:endParaRPr>
          </a:p>
        </p:txBody>
      </p:sp>
      <p:pic>
        <p:nvPicPr>
          <p:cNvPr id="106" name="Google Shape;106;p18" title="AK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38151" y="225401"/>
            <a:ext cx="370350" cy="370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 title="velops-Data Inges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4875" y="1159050"/>
            <a:ext cx="8034248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 txBox="1"/>
          <p:nvPr>
            <p:ph type="title"/>
          </p:nvPr>
        </p:nvSpPr>
        <p:spPr>
          <a:xfrm>
            <a:off x="311700" y="96112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2000">
                <a:solidFill>
                  <a:srgbClr val="F5DCA1"/>
                </a:solidFill>
              </a:rPr>
              <a:t>Data Storage: Amazon S3</a:t>
            </a:r>
            <a:endParaRPr sz="2000">
              <a:solidFill>
                <a:srgbClr val="F5DCA1"/>
              </a:solidFill>
            </a:endParaRPr>
          </a:p>
        </p:txBody>
      </p:sp>
      <p:sp>
        <p:nvSpPr>
          <p:cNvPr id="113" name="Google Shape;113;p19"/>
          <p:cNvSpPr txBox="1"/>
          <p:nvPr>
            <p:ph idx="1" type="body"/>
          </p:nvPr>
        </p:nvSpPr>
        <p:spPr>
          <a:xfrm>
            <a:off x="311700" y="179512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55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Amazon S3 acts as the raw storage layer of the pipeline.</a:t>
            </a:r>
            <a:endParaRPr sz="155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55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Data is ingested and stored</a:t>
            </a:r>
            <a:endParaRPr sz="155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55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as CSV files using a date-partitioned structure.</a:t>
            </a:r>
            <a:endParaRPr sz="155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station_status/raw/</a:t>
            </a:r>
            <a:endParaRPr sz="115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└── year/</a:t>
            </a:r>
            <a:endParaRPr sz="115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└── month/</a:t>
            </a:r>
            <a:endParaRPr sz="115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└── day/</a:t>
            </a:r>
            <a:endParaRPr sz="115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└── hour-minute.csv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" name="Google Shape;114;p19"/>
          <p:cNvSpPr txBox="1"/>
          <p:nvPr>
            <p:ph type="title"/>
          </p:nvPr>
        </p:nvSpPr>
        <p:spPr>
          <a:xfrm>
            <a:off x="3168000" y="96112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fr" sz="2000">
                <a:solidFill>
                  <a:srgbClr val="F5DCA1"/>
                </a:solidFill>
              </a:rPr>
              <a:t>Glue Data Catalog &amp; Athena</a:t>
            </a:r>
            <a:endParaRPr sz="2000">
              <a:solidFill>
                <a:srgbClr val="F5DCA1"/>
              </a:solidFill>
            </a:endParaRPr>
          </a:p>
        </p:txBody>
      </p:sp>
      <p:sp>
        <p:nvSpPr>
          <p:cNvPr id="115" name="Google Shape;115;p19"/>
          <p:cNvSpPr txBox="1"/>
          <p:nvPr>
            <p:ph idx="1" type="body"/>
          </p:nvPr>
        </p:nvSpPr>
        <p:spPr>
          <a:xfrm>
            <a:off x="3168000" y="1795125"/>
            <a:ext cx="28563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55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Terraform defines the Glue Catalog schema, partitions and S3 locations for the raw CSV files. Glue acts as a metadata layer, while Athena uses that metadata to query S3 data directly with SQL.</a:t>
            </a:r>
            <a:endParaRPr sz="155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53"/>
              <a:buFont typeface="Arial"/>
              <a:buNone/>
            </a:pPr>
            <a:r>
              <a:t/>
            </a:r>
            <a:endParaRPr sz="155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16" name="Google Shape;116;p19"/>
          <p:cNvSpPr txBox="1"/>
          <p:nvPr>
            <p:ph type="title"/>
          </p:nvPr>
        </p:nvSpPr>
        <p:spPr>
          <a:xfrm>
            <a:off x="6024300" y="96112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>
                <a:solidFill>
                  <a:srgbClr val="F5DCA1"/>
                </a:solidFill>
              </a:rPr>
              <a:t>Data Transformation: </a:t>
            </a:r>
            <a:r>
              <a:rPr lang="fr" sz="2000">
                <a:solidFill>
                  <a:srgbClr val="F5DCA1"/>
                </a:solidFill>
              </a:rPr>
              <a:t>dbt</a:t>
            </a:r>
            <a:endParaRPr sz="2000">
              <a:solidFill>
                <a:srgbClr val="F5DCA1"/>
              </a:solidFill>
            </a:endParaRPr>
          </a:p>
        </p:txBody>
      </p:sp>
      <p:sp>
        <p:nvSpPr>
          <p:cNvPr id="117" name="Google Shape;117;p19"/>
          <p:cNvSpPr txBox="1"/>
          <p:nvPr>
            <p:ph idx="1" type="body"/>
          </p:nvPr>
        </p:nvSpPr>
        <p:spPr>
          <a:xfrm>
            <a:off x="6024300" y="179512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55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dbt uses Athena as its SQL execution engine to transform raw ingestion tables into machine-learning-ready Parquet datasets.</a:t>
            </a:r>
            <a:br>
              <a:rPr lang="fr" sz="155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</a:br>
            <a:r>
              <a:rPr lang="fr" sz="155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The pipeline runs incrementally and writes partitioned feature tables back into S3 for downstream machine learning training.</a:t>
            </a:r>
            <a:endParaRPr sz="155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5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18" name="Google Shape;11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9350" y="388425"/>
            <a:ext cx="572700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" name="Google Shape;119;p19"/>
          <p:cNvGrpSpPr/>
          <p:nvPr/>
        </p:nvGrpSpPr>
        <p:grpSpPr>
          <a:xfrm>
            <a:off x="3768513" y="388425"/>
            <a:ext cx="1606975" cy="572700"/>
            <a:chOff x="3581275" y="388425"/>
            <a:chExt cx="1606975" cy="572700"/>
          </a:xfrm>
        </p:grpSpPr>
        <p:pic>
          <p:nvPicPr>
            <p:cNvPr id="120" name="Google Shape;120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581275" y="388425"/>
              <a:ext cx="572700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1" name="Google Shape;121;p1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615550" y="388425"/>
              <a:ext cx="572700" cy="5727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22" name="Google Shape;122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165975" y="412450"/>
            <a:ext cx="524650" cy="52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9" title="AK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38151" y="225401"/>
            <a:ext cx="370350" cy="37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rgbClr val="F5DCA1"/>
                </a:solidFill>
              </a:rPr>
              <a:t>Machine Learning</a:t>
            </a:r>
            <a:endParaRPr>
              <a:solidFill>
                <a:srgbClr val="F5DCA1"/>
              </a:solidFill>
            </a:endParaRPr>
          </a:p>
        </p:txBody>
      </p:sp>
      <p:pic>
        <p:nvPicPr>
          <p:cNvPr id="129" name="Google Shape;129;p20" title="AK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38151" y="225401"/>
            <a:ext cx="370350" cy="37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0"/>
          <p:cNvSpPr txBox="1"/>
          <p:nvPr>
            <p:ph idx="1" type="body"/>
          </p:nvPr>
        </p:nvSpPr>
        <p:spPr>
          <a:xfrm>
            <a:off x="415000" y="1017726"/>
            <a:ext cx="8417400" cy="66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The dataset covers a </a:t>
            </a:r>
            <a:r>
              <a:rPr lang="fr" sz="17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5-week period</a:t>
            </a: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, corresponding to 35 days = 840 hours = 3,360 15-minute intervals. Given the 1,500 stations in the network, this results in a total of</a:t>
            </a:r>
            <a:r>
              <a:rPr lang="fr" sz="1700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</a:rPr>
              <a:t> 5,040,000 status records</a:t>
            </a:r>
            <a:r>
              <a:rPr lang="fr" sz="17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(&gt; 700 Mb).</a:t>
            </a:r>
            <a:endParaRPr sz="17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31" name="Google Shape;131;p20"/>
          <p:cNvPicPr preferRelativeResize="0"/>
          <p:nvPr/>
        </p:nvPicPr>
        <p:blipFill rotWithShape="1">
          <a:blip r:embed="rId4">
            <a:alphaModFix/>
          </a:blip>
          <a:srcRect b="79673" l="0" r="32134" t="0"/>
          <a:stretch/>
        </p:blipFill>
        <p:spPr>
          <a:xfrm>
            <a:off x="2195600" y="1761592"/>
            <a:ext cx="4856187" cy="666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0" title="velops-Machine Learning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580891"/>
            <a:ext cx="8839204" cy="2330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rgbClr val="F5DCA1"/>
                </a:solidFill>
              </a:rPr>
              <a:t>Sources</a:t>
            </a:r>
            <a:endParaRPr>
              <a:solidFill>
                <a:srgbClr val="F5DCA1"/>
              </a:solidFill>
            </a:endParaRPr>
          </a:p>
        </p:txBody>
      </p:sp>
      <p:pic>
        <p:nvPicPr>
          <p:cNvPr id="138" name="Google Shape;138;p21" title="AK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38151" y="225401"/>
            <a:ext cx="370350" cy="37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swald"/>
              <a:buChar char="●"/>
            </a:pPr>
            <a:r>
              <a:rPr lang="fr" u="sng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https://www.group-indigo.com/metier/smovengo/</a:t>
            </a:r>
            <a:endParaRPr>
              <a:solidFill>
                <a:srgbClr val="F5DCA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swald"/>
              <a:buChar char="●"/>
            </a:pPr>
            <a:r>
              <a:rPr lang="fr" u="sng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https://www.smovengo.fr/</a:t>
            </a:r>
            <a:endParaRPr>
              <a:solidFill>
                <a:srgbClr val="F5DCA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swald"/>
              <a:buChar char="●"/>
            </a:pPr>
            <a:r>
              <a:rPr lang="fr" u="sng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https://www.velib-metropole.fr/</a:t>
            </a:r>
            <a:endParaRPr>
              <a:solidFill>
                <a:srgbClr val="F5DCA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40" name="Google Shape;140;p21" title="pngegg-modified.png"/>
          <p:cNvPicPr preferRelativeResize="0"/>
          <p:nvPr/>
        </p:nvPicPr>
        <p:blipFill rotWithShape="1">
          <a:blip r:embed="rId7">
            <a:alphaModFix amt="20000"/>
          </a:blip>
          <a:srcRect b="28422" l="11150" r="11041" t="28448"/>
          <a:stretch/>
        </p:blipFill>
        <p:spPr>
          <a:xfrm>
            <a:off x="3567647" y="3628100"/>
            <a:ext cx="2112100" cy="117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8932"/>
            <a:ext cx="9128177" cy="5152434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2"/>
          <p:cNvSpPr txBox="1"/>
          <p:nvPr/>
        </p:nvSpPr>
        <p:spPr>
          <a:xfrm>
            <a:off x="0" y="2995075"/>
            <a:ext cx="9144000" cy="150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fr" sz="2400" u="sng">
                <a:solidFill>
                  <a:srgbClr val="F5DCA1"/>
                </a:solidFill>
                <a:latin typeface="Oswald"/>
                <a:ea typeface="Oswald"/>
                <a:cs typeface="Oswald"/>
                <a:sym typeface="Oswald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contact@allisterkohn.com</a:t>
            </a:r>
            <a:endParaRPr sz="2400">
              <a:solidFill>
                <a:srgbClr val="F5DCA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5DCA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47" name="Google Shape;147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57913" y="2892675"/>
            <a:ext cx="612325" cy="61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