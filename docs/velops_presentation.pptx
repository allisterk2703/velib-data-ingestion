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Average"/>
      <p:regular r:id="rId22"/>
    </p:embeddedFont>
    <p:embeddedFont>
      <p:font typeface="Helvetica Neue"/>
      <p:regular r:id="rId23"/>
      <p:bold r:id="rId24"/>
      <p:italic r:id="rId25"/>
      <p:boldItalic r:id="rId26"/>
    </p:embeddedFont>
    <p:embeddedFont>
      <p:font typeface="Oswald"/>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Average-regular.fntdata"/><Relationship Id="rId21" Type="http://schemas.openxmlformats.org/officeDocument/2006/relationships/slide" Target="slides/slide16.xml"/><Relationship Id="rId24" Type="http://schemas.openxmlformats.org/officeDocument/2006/relationships/font" Target="fonts/HelveticaNeue-bold.fntdata"/><Relationship Id="rId23" Type="http://schemas.openxmlformats.org/officeDocument/2006/relationships/font" Target="fonts/HelveticaNeue-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HelveticaNeue-boldItalic.fntdata"/><Relationship Id="rId25" Type="http://schemas.openxmlformats.org/officeDocument/2006/relationships/font" Target="fonts/HelveticaNeue-italic.fntdata"/><Relationship Id="rId28" Type="http://schemas.openxmlformats.org/officeDocument/2006/relationships/font" Target="fonts/Oswald-bold.fntdata"/><Relationship Id="rId27" Type="http://schemas.openxmlformats.org/officeDocument/2006/relationships/font" Target="fonts/Oswald-regular.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460f4f2db_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460f4f2db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607be1be3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607be1be3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c460f4f2db_1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c460f4f2db_1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655ce3f3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655ce3f3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607be1be3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607be1be3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e54b99149b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e54b99149b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e5904ee895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e5904ee895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c607be1be3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c607be1be3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e5904ee895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3e5904ee895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e5904ee895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e5904ee895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e5904ee895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e5904ee895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e5904ee89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e5904ee89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be061358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e5be061358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c652b05439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c652b05439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c652b05439_1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c652b05439_1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grpSp>
        <p:nvGrpSpPr>
          <p:cNvPr id="10" name="Google Shape;10;p2"/>
          <p:cNvGrpSpPr/>
          <p:nvPr/>
        </p:nvGrpSpPr>
        <p:grpSpPr>
          <a:xfrm>
            <a:off x="4350279" y="2855377"/>
            <a:ext cx="443589" cy="105632"/>
            <a:chOff x="4137525" y="2915950"/>
            <a:chExt cx="869100" cy="207000"/>
          </a:xfrm>
        </p:grpSpPr>
        <p:sp>
          <p:nvSpPr>
            <p:cNvPr id="11" name="Google Shape;11;p2"/>
            <p:cNvSpPr/>
            <p:nvPr/>
          </p:nvSpPr>
          <p:spPr>
            <a:xfrm>
              <a:off x="446857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47996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41375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671258" y="990800"/>
            <a:ext cx="7801500" cy="1730100"/>
          </a:xfrm>
          <a:prstGeom prst="rect">
            <a:avLst/>
          </a:prstGeom>
        </p:spPr>
        <p:txBody>
          <a:bodyPr anchorCtr="0" anchor="b" bIns="91425" lIns="91425" spcFirstLastPara="1" rIns="91425" wrap="square" tIns="91425">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5" name="Google Shape;15;p2"/>
          <p:cNvSpPr txBox="1"/>
          <p:nvPr>
            <p:ph idx="1" type="subTitle"/>
          </p:nvPr>
        </p:nvSpPr>
        <p:spPr>
          <a:xfrm>
            <a:off x="671250" y="3174876"/>
            <a:ext cx="78015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6" name="Google Shape;16;p2"/>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3"/>
          <p:cNvSpPr txBox="1"/>
          <p:nvPr>
            <p:ph type="title"/>
          </p:nvPr>
        </p:nvSpPr>
        <p:spPr>
          <a:xfrm>
            <a:off x="671250" y="2141250"/>
            <a:ext cx="7852200" cy="8610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3"/>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2" name="Google Shape;22;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4"/>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6" name="Google Shape;26;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1" name="Google Shape;31;p6"/>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7"/>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2"/>
        </a:solid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490250" y="526350"/>
            <a:ext cx="62271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38" name="Google Shape;38;p8"/>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9"/>
          <p:cNvSpPr/>
          <p:nvPr/>
        </p:nvSpPr>
        <p:spPr>
          <a:xfrm>
            <a:off x="4572000" y="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 name="Google Shape;41;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2" name="Google Shape;42;p9"/>
          <p:cNvSpPr txBox="1"/>
          <p:nvPr>
            <p:ph type="title"/>
          </p:nvPr>
        </p:nvSpPr>
        <p:spPr>
          <a:xfrm>
            <a:off x="265500" y="1081400"/>
            <a:ext cx="4045200" cy="1710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3" name="Google Shape;43;p9"/>
          <p:cNvSpPr txBox="1"/>
          <p:nvPr>
            <p:ph idx="1" type="subTitle"/>
          </p:nvPr>
        </p:nvSpPr>
        <p:spPr>
          <a:xfrm>
            <a:off x="265500" y="28452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Clr>
                <a:schemeClr val="dk1"/>
              </a:buClr>
              <a:buSzPts val="2100"/>
              <a:buNone/>
              <a:defRPr sz="2100">
                <a:solidFill>
                  <a:schemeClr val="dk1"/>
                </a:solidFill>
              </a:defRPr>
            </a:lvl1pPr>
            <a:lvl2pPr lvl="1" algn="ctr">
              <a:lnSpc>
                <a:spcPct val="100000"/>
              </a:lnSpc>
              <a:spcBef>
                <a:spcPts val="0"/>
              </a:spcBef>
              <a:spcAft>
                <a:spcPts val="0"/>
              </a:spcAft>
              <a:buClr>
                <a:schemeClr val="dk1"/>
              </a:buClr>
              <a:buSzPts val="2100"/>
              <a:buNone/>
              <a:defRPr sz="2100">
                <a:solidFill>
                  <a:schemeClr val="dk1"/>
                </a:solidFill>
              </a:defRPr>
            </a:lvl2pPr>
            <a:lvl3pPr lvl="2" algn="ctr">
              <a:lnSpc>
                <a:spcPct val="100000"/>
              </a:lnSpc>
              <a:spcBef>
                <a:spcPts val="0"/>
              </a:spcBef>
              <a:spcAft>
                <a:spcPts val="0"/>
              </a:spcAft>
              <a:buClr>
                <a:schemeClr val="dk1"/>
              </a:buClr>
              <a:buSzPts val="2100"/>
              <a:buNone/>
              <a:defRPr sz="2100">
                <a:solidFill>
                  <a:schemeClr val="dk1"/>
                </a:solidFill>
              </a:defRPr>
            </a:lvl3pPr>
            <a:lvl4pPr lvl="3" algn="ctr">
              <a:lnSpc>
                <a:spcPct val="100000"/>
              </a:lnSpc>
              <a:spcBef>
                <a:spcPts val="0"/>
              </a:spcBef>
              <a:spcAft>
                <a:spcPts val="0"/>
              </a:spcAft>
              <a:buClr>
                <a:schemeClr val="dk1"/>
              </a:buClr>
              <a:buSzPts val="2100"/>
              <a:buNone/>
              <a:defRPr sz="2100">
                <a:solidFill>
                  <a:schemeClr val="dk1"/>
                </a:solidFill>
              </a:defRPr>
            </a:lvl4pPr>
            <a:lvl5pPr lvl="4" algn="ctr">
              <a:lnSpc>
                <a:spcPct val="100000"/>
              </a:lnSpc>
              <a:spcBef>
                <a:spcPts val="0"/>
              </a:spcBef>
              <a:spcAft>
                <a:spcPts val="0"/>
              </a:spcAft>
              <a:buClr>
                <a:schemeClr val="dk1"/>
              </a:buClr>
              <a:buSzPts val="2100"/>
              <a:buNone/>
              <a:defRPr sz="2100">
                <a:solidFill>
                  <a:schemeClr val="dk1"/>
                </a:solidFill>
              </a:defRPr>
            </a:lvl5pPr>
            <a:lvl6pPr lvl="5" algn="ctr">
              <a:lnSpc>
                <a:spcPct val="100000"/>
              </a:lnSpc>
              <a:spcBef>
                <a:spcPts val="0"/>
              </a:spcBef>
              <a:spcAft>
                <a:spcPts val="0"/>
              </a:spcAft>
              <a:buClr>
                <a:schemeClr val="dk1"/>
              </a:buClr>
              <a:buSzPts val="2100"/>
              <a:buNone/>
              <a:defRPr sz="2100">
                <a:solidFill>
                  <a:schemeClr val="dk1"/>
                </a:solidFill>
              </a:defRPr>
            </a:lvl6pPr>
            <a:lvl7pPr lvl="6" algn="ctr">
              <a:lnSpc>
                <a:spcPct val="100000"/>
              </a:lnSpc>
              <a:spcBef>
                <a:spcPts val="0"/>
              </a:spcBef>
              <a:spcAft>
                <a:spcPts val="0"/>
              </a:spcAft>
              <a:buClr>
                <a:schemeClr val="dk1"/>
              </a:buClr>
              <a:buSzPts val="2100"/>
              <a:buNone/>
              <a:defRPr sz="2100">
                <a:solidFill>
                  <a:schemeClr val="dk1"/>
                </a:solidFill>
              </a:defRPr>
            </a:lvl7pPr>
            <a:lvl8pPr lvl="7" algn="ctr">
              <a:lnSpc>
                <a:spcPct val="100000"/>
              </a:lnSpc>
              <a:spcBef>
                <a:spcPts val="0"/>
              </a:spcBef>
              <a:spcAft>
                <a:spcPts val="0"/>
              </a:spcAft>
              <a:buClr>
                <a:schemeClr val="dk1"/>
              </a:buClr>
              <a:buSzPts val="2100"/>
              <a:buNone/>
              <a:defRPr sz="2100">
                <a:solidFill>
                  <a:schemeClr val="dk1"/>
                </a:solidFill>
              </a:defRPr>
            </a:lvl8pPr>
            <a:lvl9pPr lvl="8" algn="ctr">
              <a:lnSpc>
                <a:spcPct val="100000"/>
              </a:lnSpc>
              <a:spcBef>
                <a:spcPts val="0"/>
              </a:spcBef>
              <a:spcAft>
                <a:spcPts val="0"/>
              </a:spcAft>
              <a:buClr>
                <a:schemeClr val="dk1"/>
              </a:buClr>
              <a:buSzPts val="2100"/>
              <a:buNone/>
              <a:defRPr sz="2100">
                <a:solidFill>
                  <a:schemeClr val="dk1"/>
                </a:solidFill>
              </a:defRPr>
            </a:lvl9pPr>
          </a:lstStyle>
          <a:p/>
        </p:txBody>
      </p:sp>
      <p:sp>
        <p:nvSpPr>
          <p:cNvPr id="44" name="Google Shape;44;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45" name="Google Shape;45;p9"/>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 name="Shape 46"/>
        <p:cNvGrpSpPr/>
        <p:nvPr/>
      </p:nvGrpSpPr>
      <p:grpSpPr>
        <a:xfrm>
          <a:off x="0" y="0"/>
          <a:ext cx="0" cy="0"/>
          <a:chOff x="0" y="0"/>
          <a:chExt cx="0" cy="0"/>
        </a:xfrm>
      </p:grpSpPr>
      <p:sp>
        <p:nvSpPr>
          <p:cNvPr id="47" name="Google Shape;47;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Clr>
                <a:schemeClr val="dk1"/>
              </a:buClr>
              <a:buSzPts val="2100"/>
              <a:buFont typeface="Oswald"/>
              <a:buNone/>
              <a:defRPr sz="2100">
                <a:solidFill>
                  <a:schemeClr val="dk1"/>
                </a:solidFill>
                <a:latin typeface="Oswald"/>
                <a:ea typeface="Oswald"/>
                <a:cs typeface="Oswald"/>
                <a:sym typeface="Oswald"/>
              </a:defRPr>
            </a:lvl1pPr>
          </a:lstStyle>
          <a:p/>
        </p:txBody>
      </p:sp>
      <p:sp>
        <p:nvSpPr>
          <p:cNvPr id="48" name="Google Shape;48;p10"/>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9" name="Shape 49"/>
        <p:cNvGrpSpPr/>
        <p:nvPr/>
      </p:nvGrpSpPr>
      <p:grpSpPr>
        <a:xfrm>
          <a:off x="0" y="0"/>
          <a:ext cx="0" cy="0"/>
          <a:chOff x="0" y="0"/>
          <a:chExt cx="0" cy="0"/>
        </a:xfrm>
      </p:grpSpPr>
      <p:sp>
        <p:nvSpPr>
          <p:cNvPr id="50" name="Google Shape;50;p11"/>
          <p:cNvSpPr txBox="1"/>
          <p:nvPr>
            <p:ph hasCustomPrompt="1" type="title"/>
          </p:nvPr>
        </p:nvSpPr>
        <p:spPr>
          <a:xfrm>
            <a:off x="311700" y="1255275"/>
            <a:ext cx="8520600" cy="18906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1" name="Google Shape;51;p11"/>
          <p:cNvSpPr txBox="1"/>
          <p:nvPr>
            <p:ph idx="1" type="body"/>
          </p:nvPr>
        </p:nvSpPr>
        <p:spPr>
          <a:xfrm>
            <a:off x="311700" y="32284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2" name="Google Shape;52;p11"/>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3" name="Shape 53"/>
        <p:cNvGrpSpPr/>
        <p:nvPr/>
      </p:nvGrpSpPr>
      <p:grpSpPr>
        <a:xfrm>
          <a:off x="0" y="0"/>
          <a:ext cx="0" cy="0"/>
          <a:chOff x="0" y="0"/>
          <a:chExt cx="0" cy="0"/>
        </a:xfrm>
      </p:grpSpPr>
      <p:sp>
        <p:nvSpPr>
          <p:cNvPr id="54" name="Google Shape;54;p12"/>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lat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1pPr>
            <a:lvl2pPr lvl="1">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2pPr>
            <a:lvl3pPr lvl="2">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3pPr>
            <a:lvl4pPr lvl="3">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4pPr>
            <a:lvl5pPr lvl="4">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5pPr>
            <a:lvl6pPr lvl="5">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6pPr>
            <a:lvl7pPr lvl="6">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7pPr>
            <a:lvl8pPr lvl="7">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8pPr>
            <a:lvl9pPr lvl="8">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accent3"/>
              </a:buClr>
              <a:buSzPts val="1800"/>
              <a:buFont typeface="Average"/>
              <a:buChar char="●"/>
              <a:defRPr sz="1800">
                <a:solidFill>
                  <a:schemeClr val="accent3"/>
                </a:solidFill>
                <a:latin typeface="Average"/>
                <a:ea typeface="Average"/>
                <a:cs typeface="Average"/>
                <a:sym typeface="Average"/>
              </a:defRPr>
            </a:lvl1pPr>
            <a:lvl2pPr indent="-317500" lvl="1" marL="9144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2pPr>
            <a:lvl3pPr indent="-317500" lvl="2" marL="13716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3pPr>
            <a:lvl4pPr indent="-317500" lvl="3" marL="18288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4pPr>
            <a:lvl5pPr indent="-317500" lvl="4" marL="22860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5pPr>
            <a:lvl6pPr indent="-317500" lvl="5" marL="27432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6pPr>
            <a:lvl7pPr indent="-317500" lvl="6" marL="32004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7pPr>
            <a:lvl8pPr indent="-317500" lvl="7" marL="36576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8pPr>
            <a:lvl9pPr indent="-317500" lvl="8" marL="41148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9pPr>
          </a:lstStyle>
          <a:p/>
        </p:txBody>
      </p:sp>
      <p:sp>
        <p:nvSpPr>
          <p:cNvPr id="8" name="Google Shape;8;p1"/>
          <p:cNvSpPr txBox="1"/>
          <p:nvPr>
            <p:ph idx="12" type="sldNum"/>
          </p:nvPr>
        </p:nvSpPr>
        <p:spPr>
          <a:xfrm>
            <a:off x="8490250" y="4681009"/>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3"/>
                </a:solidFill>
                <a:latin typeface="Average"/>
                <a:ea typeface="Average"/>
                <a:cs typeface="Average"/>
                <a:sym typeface="Average"/>
              </a:defRPr>
            </a:lvl1pPr>
            <a:lvl2pPr lvl="1" algn="r">
              <a:buNone/>
              <a:defRPr sz="1000">
                <a:solidFill>
                  <a:schemeClr val="accent3"/>
                </a:solidFill>
                <a:latin typeface="Average"/>
                <a:ea typeface="Average"/>
                <a:cs typeface="Average"/>
                <a:sym typeface="Average"/>
              </a:defRPr>
            </a:lvl2pPr>
            <a:lvl3pPr lvl="2" algn="r">
              <a:buNone/>
              <a:defRPr sz="1000">
                <a:solidFill>
                  <a:schemeClr val="accent3"/>
                </a:solidFill>
                <a:latin typeface="Average"/>
                <a:ea typeface="Average"/>
                <a:cs typeface="Average"/>
                <a:sym typeface="Average"/>
              </a:defRPr>
            </a:lvl3pPr>
            <a:lvl4pPr lvl="3" algn="r">
              <a:buNone/>
              <a:defRPr sz="1000">
                <a:solidFill>
                  <a:schemeClr val="accent3"/>
                </a:solidFill>
                <a:latin typeface="Average"/>
                <a:ea typeface="Average"/>
                <a:cs typeface="Average"/>
                <a:sym typeface="Average"/>
              </a:defRPr>
            </a:lvl4pPr>
            <a:lvl5pPr lvl="4" algn="r">
              <a:buNone/>
              <a:defRPr sz="1000">
                <a:solidFill>
                  <a:schemeClr val="accent3"/>
                </a:solidFill>
                <a:latin typeface="Average"/>
                <a:ea typeface="Average"/>
                <a:cs typeface="Average"/>
                <a:sym typeface="Average"/>
              </a:defRPr>
            </a:lvl5pPr>
            <a:lvl6pPr lvl="5" algn="r">
              <a:buNone/>
              <a:defRPr sz="1000">
                <a:solidFill>
                  <a:schemeClr val="accent3"/>
                </a:solidFill>
                <a:latin typeface="Average"/>
                <a:ea typeface="Average"/>
                <a:cs typeface="Average"/>
                <a:sym typeface="Average"/>
              </a:defRPr>
            </a:lvl6pPr>
            <a:lvl7pPr lvl="6" algn="r">
              <a:buNone/>
              <a:defRPr sz="1000">
                <a:solidFill>
                  <a:schemeClr val="accent3"/>
                </a:solidFill>
                <a:latin typeface="Average"/>
                <a:ea typeface="Average"/>
                <a:cs typeface="Average"/>
                <a:sym typeface="Average"/>
              </a:defRPr>
            </a:lvl7pPr>
            <a:lvl8pPr lvl="7" algn="r">
              <a:buNone/>
              <a:defRPr sz="1000">
                <a:solidFill>
                  <a:schemeClr val="accent3"/>
                </a:solidFill>
                <a:latin typeface="Average"/>
                <a:ea typeface="Average"/>
                <a:cs typeface="Average"/>
                <a:sym typeface="Average"/>
              </a:defRPr>
            </a:lvl8pPr>
            <a:lvl9pPr lvl="8" algn="r">
              <a:buNone/>
              <a:defRPr sz="1000">
                <a:solidFill>
                  <a:schemeClr val="accent3"/>
                </a:solidFill>
                <a:latin typeface="Average"/>
                <a:ea typeface="Average"/>
                <a:cs typeface="Average"/>
                <a:sym typeface="Average"/>
              </a:defRPr>
            </a:lvl9pPr>
          </a:lstStyle>
          <a:p>
            <a:pPr indent="0" lvl="0" marL="0" rtl="0" algn="r">
              <a:spcBef>
                <a:spcPts val="0"/>
              </a:spcBef>
              <a:spcAft>
                <a:spcPts val="0"/>
              </a:spcAft>
              <a:buNone/>
            </a:pPr>
            <a:fld id="{00000000-1234-1234-1234-123412341234}" type="slidenum">
              <a:rPr lang="fr"/>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mailto:contact@allisterkohn.com" TargetMode="External"/><Relationship Id="rId4" Type="http://schemas.openxmlformats.org/officeDocument/2006/relationships/image" Target="../media/image2.png"/><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velib-metropole.fr/donnees-open-data-gbfs-du-service-velib-metropole" TargetMode="External"/><Relationship Id="rId4"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1.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15.png"/><Relationship Id="rId10" Type="http://schemas.openxmlformats.org/officeDocument/2006/relationships/image" Target="../media/image25.png"/><Relationship Id="rId9"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image" Target="../media/image26.png"/><Relationship Id="rId7" Type="http://schemas.openxmlformats.org/officeDocument/2006/relationships/image" Target="../media/image23.png"/><Relationship Id="rId8"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hyperlink" Target="https://www.group-indigo.com/metier/smovengo/" TargetMode="External"/><Relationship Id="rId5" Type="http://schemas.openxmlformats.org/officeDocument/2006/relationships/hyperlink" Target="https://www.smovengo.fr/" TargetMode="External"/><Relationship Id="rId6" Type="http://schemas.openxmlformats.org/officeDocument/2006/relationships/hyperlink" Target="https://www.velib-metropole.fr/" TargetMode="External"/><Relationship Id="rId7"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8.png"/><Relationship Id="rId4" Type="http://schemas.openxmlformats.org/officeDocument/2006/relationships/hyperlink" Target="mailto:contact@allisterkohn.com" TargetMode="External"/><Relationship Id="rId5"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3"/>
          <p:cNvSpPr txBox="1"/>
          <p:nvPr>
            <p:ph type="ctrTitle"/>
          </p:nvPr>
        </p:nvSpPr>
        <p:spPr>
          <a:xfrm>
            <a:off x="671258" y="763350"/>
            <a:ext cx="7801500" cy="17301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fr">
                <a:solidFill>
                  <a:srgbClr val="F5DCA1"/>
                </a:solidFill>
              </a:rPr>
              <a:t>VelOps</a:t>
            </a:r>
            <a:endParaRPr>
              <a:solidFill>
                <a:srgbClr val="F5DCA1"/>
              </a:solidFill>
            </a:endParaRPr>
          </a:p>
        </p:txBody>
      </p:sp>
      <p:sp>
        <p:nvSpPr>
          <p:cNvPr id="60" name="Google Shape;60;p13"/>
          <p:cNvSpPr txBox="1"/>
          <p:nvPr>
            <p:ph idx="1" type="subTitle"/>
          </p:nvPr>
        </p:nvSpPr>
        <p:spPr>
          <a:xfrm>
            <a:off x="671250" y="3072700"/>
            <a:ext cx="7801500" cy="11910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fr">
                <a:latin typeface="Oswald"/>
                <a:ea typeface="Oswald"/>
                <a:cs typeface="Oswald"/>
                <a:sym typeface="Oswald"/>
              </a:rPr>
              <a:t>Allister Kohn</a:t>
            </a:r>
            <a:endParaRPr>
              <a:latin typeface="Oswald"/>
              <a:ea typeface="Oswald"/>
              <a:cs typeface="Oswald"/>
              <a:sym typeface="Oswald"/>
            </a:endParaRPr>
          </a:p>
          <a:p>
            <a:pPr indent="0" lvl="0" marL="0" rtl="0" algn="ctr">
              <a:spcBef>
                <a:spcPts val="0"/>
              </a:spcBef>
              <a:spcAft>
                <a:spcPts val="0"/>
              </a:spcAft>
              <a:buNone/>
            </a:pPr>
            <a:r>
              <a:t/>
            </a:r>
            <a:endParaRPr>
              <a:latin typeface="Oswald"/>
              <a:ea typeface="Oswald"/>
              <a:cs typeface="Oswald"/>
              <a:sym typeface="Oswald"/>
            </a:endParaRPr>
          </a:p>
          <a:p>
            <a:pPr indent="0" lvl="0" marL="0" rtl="0" algn="ctr">
              <a:spcBef>
                <a:spcPts val="0"/>
              </a:spcBef>
              <a:spcAft>
                <a:spcPts val="0"/>
              </a:spcAft>
              <a:buNone/>
            </a:pPr>
            <a:r>
              <a:rPr lang="fr" u="sng">
                <a:solidFill>
                  <a:srgbClr val="F5DCA1"/>
                </a:solidFill>
                <a:latin typeface="Oswald"/>
                <a:ea typeface="Oswald"/>
                <a:cs typeface="Oswald"/>
                <a:sym typeface="Oswald"/>
                <a:hlinkClick r:id="rId3">
                  <a:extLst>
                    <a:ext uri="{A12FA001-AC4F-418D-AE19-62706E023703}">
                      <ahyp:hlinkClr val="tx"/>
                    </a:ext>
                  </a:extLst>
                </a:hlinkClick>
              </a:rPr>
              <a:t>contact@allisterkohn.com</a:t>
            </a:r>
            <a:endParaRPr>
              <a:solidFill>
                <a:srgbClr val="F5DCA1"/>
              </a:solidFill>
              <a:latin typeface="Oswald"/>
              <a:ea typeface="Oswald"/>
              <a:cs typeface="Oswald"/>
              <a:sym typeface="Oswald"/>
            </a:endParaRPr>
          </a:p>
        </p:txBody>
      </p:sp>
      <p:pic>
        <p:nvPicPr>
          <p:cNvPr id="61" name="Google Shape;61;p13" title="pngegg-modified.png"/>
          <p:cNvPicPr preferRelativeResize="0"/>
          <p:nvPr/>
        </p:nvPicPr>
        <p:blipFill rotWithShape="1">
          <a:blip r:embed="rId4">
            <a:alphaModFix amt="20000"/>
          </a:blip>
          <a:srcRect b="28422" l="11150" r="11041" t="28448"/>
          <a:stretch/>
        </p:blipFill>
        <p:spPr>
          <a:xfrm>
            <a:off x="6443825" y="3646675"/>
            <a:ext cx="2700175" cy="1496825"/>
          </a:xfrm>
          <a:prstGeom prst="rect">
            <a:avLst/>
          </a:prstGeom>
          <a:noFill/>
          <a:ln>
            <a:noFill/>
          </a:ln>
        </p:spPr>
      </p:pic>
      <p:pic>
        <p:nvPicPr>
          <p:cNvPr id="62" name="Google Shape;62;p13" title="pngegg-modified.png"/>
          <p:cNvPicPr preferRelativeResize="0"/>
          <p:nvPr/>
        </p:nvPicPr>
        <p:blipFill rotWithShape="1">
          <a:blip r:embed="rId4">
            <a:alphaModFix amt="20000"/>
          </a:blip>
          <a:srcRect b="28422" l="11150" r="11041" t="28448"/>
          <a:stretch/>
        </p:blipFill>
        <p:spPr>
          <a:xfrm>
            <a:off x="0" y="3646675"/>
            <a:ext cx="2700175" cy="1496825"/>
          </a:xfrm>
          <a:prstGeom prst="rect">
            <a:avLst/>
          </a:prstGeom>
          <a:noFill/>
          <a:ln>
            <a:noFill/>
          </a:ln>
        </p:spPr>
      </p:pic>
      <p:pic>
        <p:nvPicPr>
          <p:cNvPr id="63" name="Google Shape;63;p13" title="AK.png"/>
          <p:cNvPicPr preferRelativeResize="0"/>
          <p:nvPr/>
        </p:nvPicPr>
        <p:blipFill rotWithShape="1">
          <a:blip r:embed="rId5">
            <a:alphaModFix/>
          </a:blip>
          <a:srcRect b="0" l="0" r="0" t="0"/>
          <a:stretch/>
        </p:blipFill>
        <p:spPr>
          <a:xfrm>
            <a:off x="8538151" y="225401"/>
            <a:ext cx="370350" cy="3703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7" name="Shape 67"/>
        <p:cNvGrpSpPr/>
        <p:nvPr/>
      </p:nvGrpSpPr>
      <p:grpSpPr>
        <a:xfrm>
          <a:off x="0" y="0"/>
          <a:ext cx="0" cy="0"/>
          <a:chOff x="0" y="0"/>
          <a:chExt cx="0" cy="0"/>
        </a:xfrm>
      </p:grpSpPr>
      <p:sp>
        <p:nvSpPr>
          <p:cNvPr id="68" name="Google Shape;68;p14"/>
          <p:cNvSpPr txBox="1"/>
          <p:nvPr/>
        </p:nvSpPr>
        <p:spPr>
          <a:xfrm>
            <a:off x="311700" y="1152475"/>
            <a:ext cx="5670300" cy="3416400"/>
          </a:xfrm>
          <a:prstGeom prst="rect">
            <a:avLst/>
          </a:prstGeom>
          <a:noFill/>
          <a:ln>
            <a:noFill/>
          </a:ln>
        </p:spPr>
        <p:txBody>
          <a:bodyPr anchorCtr="0" anchor="t" bIns="91425" lIns="91425" spcFirstLastPara="1" rIns="91425" wrap="square" tIns="91425">
            <a:normAutofit lnSpcReduction="20000"/>
          </a:bodyPr>
          <a:lstStyle/>
          <a:p>
            <a:pPr indent="0" lvl="0" marL="0" rtl="0" algn="l">
              <a:lnSpc>
                <a:spcPct val="150000"/>
              </a:lnSpc>
              <a:spcBef>
                <a:spcPts val="1200"/>
              </a:spcBef>
              <a:spcAft>
                <a:spcPts val="0"/>
              </a:spcAft>
              <a:buNone/>
            </a:pPr>
            <a:r>
              <a:rPr lang="fr" sz="1800">
                <a:solidFill>
                  <a:srgbClr val="FFFFFF"/>
                </a:solidFill>
                <a:latin typeface="Oswald"/>
                <a:ea typeface="Oswald"/>
                <a:cs typeface="Oswald"/>
                <a:sym typeface="Oswald"/>
              </a:rPr>
              <a:t>• Allister, 24 years old</a:t>
            </a:r>
            <a:endParaRPr sz="1800">
              <a:solidFill>
                <a:srgbClr val="FFFFFF"/>
              </a:solidFill>
              <a:latin typeface="Oswald"/>
              <a:ea typeface="Oswald"/>
              <a:cs typeface="Oswald"/>
              <a:sym typeface="Oswald"/>
            </a:endParaRPr>
          </a:p>
          <a:p>
            <a:pPr indent="0" lvl="0" marL="0" rtl="0" algn="l">
              <a:lnSpc>
                <a:spcPct val="150000"/>
              </a:lnSpc>
              <a:spcBef>
                <a:spcPts val="1200"/>
              </a:spcBef>
              <a:spcAft>
                <a:spcPts val="0"/>
              </a:spcAft>
              <a:buNone/>
            </a:pPr>
            <a:r>
              <a:rPr lang="fr" sz="1800">
                <a:solidFill>
                  <a:srgbClr val="FFFFFF"/>
                </a:solidFill>
                <a:latin typeface="Oswald"/>
                <a:ea typeface="Oswald"/>
                <a:cs typeface="Oswald"/>
                <a:sym typeface="Oswald"/>
              </a:rPr>
              <a:t>• Based in the Paris region</a:t>
            </a:r>
            <a:endParaRPr sz="1800">
              <a:solidFill>
                <a:srgbClr val="FFFFFF"/>
              </a:solidFill>
              <a:latin typeface="Oswald"/>
              <a:ea typeface="Oswald"/>
              <a:cs typeface="Oswald"/>
              <a:sym typeface="Oswald"/>
            </a:endParaRPr>
          </a:p>
          <a:p>
            <a:pPr indent="0" lvl="0" marL="0" rtl="0" algn="l">
              <a:lnSpc>
                <a:spcPct val="150000"/>
              </a:lnSpc>
              <a:spcBef>
                <a:spcPts val="1200"/>
              </a:spcBef>
              <a:spcAft>
                <a:spcPts val="0"/>
              </a:spcAft>
              <a:buNone/>
            </a:pPr>
            <a:r>
              <a:rPr lang="fr" sz="1800">
                <a:solidFill>
                  <a:srgbClr val="FFFFFF"/>
                </a:solidFill>
                <a:latin typeface="Oswald"/>
                <a:ea typeface="Oswald"/>
                <a:cs typeface="Oswald"/>
                <a:sym typeface="Oswald"/>
              </a:rPr>
              <a:t>• Scientific Baccalaureate (2019)</a:t>
            </a:r>
            <a:endParaRPr sz="1800">
              <a:solidFill>
                <a:srgbClr val="FFFFFF"/>
              </a:solidFill>
              <a:latin typeface="Oswald"/>
              <a:ea typeface="Oswald"/>
              <a:cs typeface="Oswald"/>
              <a:sym typeface="Oswald"/>
            </a:endParaRPr>
          </a:p>
          <a:p>
            <a:pPr indent="0" lvl="0" marL="0" rtl="0" algn="l">
              <a:lnSpc>
                <a:spcPct val="150000"/>
              </a:lnSpc>
              <a:spcBef>
                <a:spcPts val="1200"/>
              </a:spcBef>
              <a:spcAft>
                <a:spcPts val="0"/>
              </a:spcAft>
              <a:buNone/>
            </a:pPr>
            <a:r>
              <a:rPr lang="fr" sz="1800">
                <a:solidFill>
                  <a:srgbClr val="FFFFFF"/>
                </a:solidFill>
                <a:latin typeface="Oswald"/>
                <a:ea typeface="Oswald"/>
                <a:cs typeface="Oswald"/>
                <a:sym typeface="Oswald"/>
              </a:rPr>
              <a:t>• Graduate Engineer (2024)</a:t>
            </a:r>
            <a:endParaRPr sz="1800">
              <a:solidFill>
                <a:srgbClr val="FFFFFF"/>
              </a:solidFill>
              <a:latin typeface="Oswald"/>
              <a:ea typeface="Oswald"/>
              <a:cs typeface="Oswald"/>
              <a:sym typeface="Oswald"/>
            </a:endParaRPr>
          </a:p>
          <a:p>
            <a:pPr indent="0" lvl="0" marL="0" rtl="0" algn="l">
              <a:lnSpc>
                <a:spcPct val="150000"/>
              </a:lnSpc>
              <a:spcBef>
                <a:spcPts val="1200"/>
              </a:spcBef>
              <a:spcAft>
                <a:spcPts val="0"/>
              </a:spcAft>
              <a:buNone/>
            </a:pPr>
            <a:r>
              <a:rPr lang="fr" sz="1800">
                <a:solidFill>
                  <a:srgbClr val="FFFFFF"/>
                </a:solidFill>
                <a:latin typeface="Oswald"/>
                <a:ea typeface="Oswald"/>
                <a:cs typeface="Oswald"/>
                <a:sym typeface="Oswald"/>
              </a:rPr>
              <a:t>• MSc in Data Sciences &amp; Business Analytics (2025)</a:t>
            </a:r>
            <a:endParaRPr sz="1800">
              <a:solidFill>
                <a:srgbClr val="FFFFFF"/>
              </a:solidFill>
              <a:latin typeface="Oswald"/>
              <a:ea typeface="Oswald"/>
              <a:cs typeface="Oswald"/>
              <a:sym typeface="Oswald"/>
            </a:endParaRPr>
          </a:p>
          <a:p>
            <a:pPr indent="0" lvl="0" marL="0" rtl="0" algn="l">
              <a:lnSpc>
                <a:spcPct val="150000"/>
              </a:lnSpc>
              <a:spcBef>
                <a:spcPts val="1200"/>
              </a:spcBef>
              <a:spcAft>
                <a:spcPts val="1200"/>
              </a:spcAft>
              <a:buNone/>
            </a:pPr>
            <a:r>
              <a:rPr lang="fr" sz="1800">
                <a:solidFill>
                  <a:srgbClr val="FFFFFF"/>
                </a:solidFill>
                <a:latin typeface="Oswald"/>
                <a:ea typeface="Oswald"/>
                <a:cs typeface="Oswald"/>
                <a:sym typeface="Oswald"/>
              </a:rPr>
              <a:t>• Career focus:</a:t>
            </a:r>
            <a:br>
              <a:rPr lang="fr" sz="1800">
                <a:solidFill>
                  <a:srgbClr val="FFFFFF"/>
                </a:solidFill>
                <a:latin typeface="Oswald"/>
                <a:ea typeface="Oswald"/>
                <a:cs typeface="Oswald"/>
                <a:sym typeface="Oswald"/>
              </a:rPr>
            </a:br>
            <a:r>
              <a:rPr lang="fr" sz="1800">
                <a:solidFill>
                  <a:srgbClr val="FFFFFF"/>
                </a:solidFill>
                <a:latin typeface="Oswald"/>
                <a:ea typeface="Oswald"/>
                <a:cs typeface="Oswald"/>
                <a:sym typeface="Oswald"/>
              </a:rPr>
              <a:t>Data Science → ML Engineering </a:t>
            </a:r>
            <a:r>
              <a:rPr lang="fr" sz="1800">
                <a:solidFill>
                  <a:schemeClr val="dk1"/>
                </a:solidFill>
                <a:latin typeface="Oswald"/>
                <a:ea typeface="Oswald"/>
                <a:cs typeface="Oswald"/>
                <a:sym typeface="Oswald"/>
              </a:rPr>
              <a:t>→ </a:t>
            </a:r>
            <a:r>
              <a:rPr lang="fr" sz="1800">
                <a:solidFill>
                  <a:srgbClr val="FFFFFF"/>
                </a:solidFill>
                <a:latin typeface="Oswald"/>
                <a:ea typeface="Oswald"/>
                <a:cs typeface="Oswald"/>
                <a:sym typeface="Oswald"/>
              </a:rPr>
              <a:t>MLOps</a:t>
            </a:r>
            <a:endParaRPr sz="1800">
              <a:solidFill>
                <a:srgbClr val="FFFFFF"/>
              </a:solidFill>
              <a:latin typeface="Oswald"/>
              <a:ea typeface="Oswald"/>
              <a:cs typeface="Oswald"/>
              <a:sym typeface="Oswald"/>
            </a:endParaRPr>
          </a:p>
        </p:txBody>
      </p:sp>
      <p:pic>
        <p:nvPicPr>
          <p:cNvPr id="69" name="Google Shape;69;p14" title="Photo de profil - Allister 2.png"/>
          <p:cNvPicPr preferRelativeResize="0"/>
          <p:nvPr/>
        </p:nvPicPr>
        <p:blipFill rotWithShape="1">
          <a:blip r:embed="rId3">
            <a:alphaModFix/>
          </a:blip>
          <a:srcRect b="0" l="0" r="0" t="0"/>
          <a:stretch/>
        </p:blipFill>
        <p:spPr>
          <a:xfrm>
            <a:off x="6017496" y="952500"/>
            <a:ext cx="2354001" cy="2354001"/>
          </a:xfrm>
          <a:prstGeom prst="rect">
            <a:avLst/>
          </a:prstGeom>
          <a:noFill/>
          <a:ln>
            <a:noFill/>
          </a:ln>
        </p:spPr>
      </p:pic>
      <p:grpSp>
        <p:nvGrpSpPr>
          <p:cNvPr id="70" name="Google Shape;70;p14"/>
          <p:cNvGrpSpPr/>
          <p:nvPr/>
        </p:nvGrpSpPr>
        <p:grpSpPr>
          <a:xfrm>
            <a:off x="5889322" y="3629625"/>
            <a:ext cx="2610348" cy="812201"/>
            <a:chOff x="5915500" y="3629625"/>
            <a:chExt cx="2610348" cy="812201"/>
          </a:xfrm>
        </p:grpSpPr>
        <p:pic>
          <p:nvPicPr>
            <p:cNvPr id="71" name="Google Shape;71;p14" title="Logo ESSEC Blanc.png"/>
            <p:cNvPicPr preferRelativeResize="0"/>
            <p:nvPr/>
          </p:nvPicPr>
          <p:blipFill rotWithShape="1">
            <a:blip r:embed="rId4">
              <a:alphaModFix/>
            </a:blip>
            <a:srcRect b="0" l="0" r="0" t="0"/>
            <a:stretch/>
          </p:blipFill>
          <p:spPr>
            <a:xfrm>
              <a:off x="5915500" y="3629625"/>
              <a:ext cx="868524" cy="812201"/>
            </a:xfrm>
            <a:prstGeom prst="rect">
              <a:avLst/>
            </a:prstGeom>
            <a:noFill/>
            <a:ln>
              <a:noFill/>
            </a:ln>
          </p:spPr>
        </p:pic>
        <p:pic>
          <p:nvPicPr>
            <p:cNvPr id="72" name="Google Shape;72;p14" title="Logo CentraleSupélec Blanc.png"/>
            <p:cNvPicPr preferRelativeResize="0"/>
            <p:nvPr/>
          </p:nvPicPr>
          <p:blipFill rotWithShape="1">
            <a:blip r:embed="rId5">
              <a:alphaModFix/>
            </a:blip>
            <a:srcRect b="2534" l="4872" r="3553" t="13847"/>
            <a:stretch/>
          </p:blipFill>
          <p:spPr>
            <a:xfrm>
              <a:off x="7114300" y="3671625"/>
              <a:ext cx="1411548" cy="728201"/>
            </a:xfrm>
            <a:prstGeom prst="rect">
              <a:avLst/>
            </a:prstGeom>
            <a:noFill/>
            <a:ln>
              <a:noFill/>
            </a:ln>
          </p:spPr>
        </p:pic>
      </p:grpSp>
      <p:pic>
        <p:nvPicPr>
          <p:cNvPr id="73" name="Google Shape;73;p14" title="AK.png"/>
          <p:cNvPicPr preferRelativeResize="0"/>
          <p:nvPr/>
        </p:nvPicPr>
        <p:blipFill rotWithShape="1">
          <a:blip r:embed="rId6">
            <a:alphaModFix/>
          </a:blip>
          <a:srcRect b="0" l="0" r="0" t="0"/>
          <a:stretch/>
        </p:blipFill>
        <p:spPr>
          <a:xfrm>
            <a:off x="8538151" y="225401"/>
            <a:ext cx="370350" cy="370350"/>
          </a:xfrm>
          <a:prstGeom prst="rect">
            <a:avLst/>
          </a:prstGeom>
          <a:noFill/>
          <a:ln>
            <a:noFill/>
          </a:ln>
        </p:spPr>
      </p:pic>
      <p:sp>
        <p:nvSpPr>
          <p:cNvPr id="74" name="Google Shape;74;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Who am I?</a:t>
            </a:r>
            <a:endParaRPr>
              <a:solidFill>
                <a:srgbClr val="F5DCA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idx="1" type="body"/>
          </p:nvPr>
        </p:nvSpPr>
        <p:spPr>
          <a:xfrm>
            <a:off x="311700" y="1017725"/>
            <a:ext cx="4428600" cy="1864200"/>
          </a:xfrm>
          <a:prstGeom prst="rect">
            <a:avLst/>
          </a:prstGeom>
        </p:spPr>
        <p:txBody>
          <a:bodyPr anchorCtr="0" anchor="t" bIns="91425" lIns="91425" spcFirstLastPara="1" rIns="91425" wrap="square" tIns="91425">
            <a:noAutofit/>
          </a:bodyPr>
          <a:lstStyle/>
          <a:p>
            <a:pPr indent="0" lvl="0" marL="0" rtl="0" algn="l">
              <a:lnSpc>
                <a:spcPct val="95000"/>
              </a:lnSpc>
              <a:spcBef>
                <a:spcPts val="1200"/>
              </a:spcBef>
              <a:spcAft>
                <a:spcPts val="0"/>
              </a:spcAft>
              <a:buSzPts val="523"/>
              <a:buNone/>
            </a:pPr>
            <a:r>
              <a:rPr lang="fr" sz="1500">
                <a:solidFill>
                  <a:schemeClr val="dk1"/>
                </a:solidFill>
                <a:latin typeface="Oswald"/>
                <a:ea typeface="Oswald"/>
                <a:cs typeface="Oswald"/>
                <a:sym typeface="Oswald"/>
              </a:rPr>
              <a:t>• </a:t>
            </a:r>
            <a:r>
              <a:rPr lang="fr" sz="1500">
                <a:solidFill>
                  <a:srgbClr val="F5DCA1"/>
                </a:solidFill>
                <a:latin typeface="Oswald"/>
                <a:ea typeface="Oswald"/>
                <a:cs typeface="Oswald"/>
                <a:sym typeface="Oswald"/>
              </a:rPr>
              <a:t>Smovengo</a:t>
            </a:r>
            <a:r>
              <a:rPr lang="fr" sz="1500">
                <a:solidFill>
                  <a:schemeClr val="dk1"/>
                </a:solidFill>
                <a:latin typeface="Oswald"/>
                <a:ea typeface="Oswald"/>
                <a:cs typeface="Oswald"/>
                <a:sym typeface="Oswald"/>
              </a:rPr>
              <a:t> is the operator of </a:t>
            </a:r>
            <a:r>
              <a:rPr lang="fr" sz="1500">
                <a:solidFill>
                  <a:srgbClr val="F5DCA1"/>
                </a:solidFill>
                <a:latin typeface="Oswald"/>
                <a:ea typeface="Oswald"/>
                <a:cs typeface="Oswald"/>
                <a:sym typeface="Oswald"/>
              </a:rPr>
              <a:t>Vélib’ Métropole</a:t>
            </a:r>
            <a:r>
              <a:rPr lang="fr" sz="1500">
                <a:solidFill>
                  <a:schemeClr val="dk1"/>
                </a:solidFill>
                <a:latin typeface="Oswald"/>
                <a:ea typeface="Oswald"/>
                <a:cs typeface="Oswald"/>
                <a:sym typeface="Oswald"/>
              </a:rPr>
              <a:t>, the public bike-sharing service of the Paris metropolitan area</a:t>
            </a:r>
            <a:endParaRPr sz="1500">
              <a:solidFill>
                <a:schemeClr val="dk1"/>
              </a:solidFill>
              <a:latin typeface="Oswald"/>
              <a:ea typeface="Oswald"/>
              <a:cs typeface="Oswald"/>
              <a:sym typeface="Oswald"/>
            </a:endParaRPr>
          </a:p>
          <a:p>
            <a:pPr indent="0" lvl="0" marL="0" rtl="0" algn="l">
              <a:lnSpc>
                <a:spcPct val="95000"/>
              </a:lnSpc>
              <a:spcBef>
                <a:spcPts val="1200"/>
              </a:spcBef>
              <a:spcAft>
                <a:spcPts val="0"/>
              </a:spcAft>
              <a:buSzPts val="523"/>
              <a:buNone/>
            </a:pPr>
            <a:r>
              <a:rPr lang="fr" sz="1500">
                <a:solidFill>
                  <a:schemeClr val="dk1"/>
                </a:solidFill>
                <a:latin typeface="Oswald"/>
                <a:ea typeface="Oswald"/>
                <a:cs typeface="Oswald"/>
                <a:sym typeface="Oswald"/>
              </a:rPr>
              <a:t>• </a:t>
            </a:r>
            <a:r>
              <a:rPr lang="fr" sz="1500">
                <a:solidFill>
                  <a:schemeClr val="dk1"/>
                </a:solidFill>
                <a:latin typeface="Oswald"/>
                <a:ea typeface="Oswald"/>
                <a:cs typeface="Oswald"/>
                <a:sym typeface="Oswald"/>
              </a:rPr>
              <a:t>Vélib’ is the </a:t>
            </a:r>
            <a:r>
              <a:rPr lang="fr" sz="1500">
                <a:solidFill>
                  <a:srgbClr val="F5DCA1"/>
                </a:solidFill>
                <a:latin typeface="Oswald"/>
                <a:ea typeface="Oswald"/>
                <a:cs typeface="Oswald"/>
                <a:sym typeface="Oswald"/>
              </a:rPr>
              <a:t>largest station-based bike-sharing system</a:t>
            </a:r>
            <a:r>
              <a:rPr lang="fr" sz="1500">
                <a:solidFill>
                  <a:schemeClr val="dk1"/>
                </a:solidFill>
                <a:latin typeface="Oswald"/>
                <a:ea typeface="Oswald"/>
                <a:cs typeface="Oswald"/>
                <a:sym typeface="Oswald"/>
              </a:rPr>
              <a:t> in the world, covering Paris and the wider Île-de-France region</a:t>
            </a:r>
            <a:endParaRPr sz="1500">
              <a:solidFill>
                <a:schemeClr val="dk1"/>
              </a:solidFill>
              <a:latin typeface="Oswald"/>
              <a:ea typeface="Oswald"/>
              <a:cs typeface="Oswald"/>
              <a:sym typeface="Oswald"/>
            </a:endParaRPr>
          </a:p>
          <a:p>
            <a:pPr indent="0" lvl="0" marL="0" rtl="0" algn="l">
              <a:lnSpc>
                <a:spcPct val="95000"/>
              </a:lnSpc>
              <a:spcBef>
                <a:spcPts val="1200"/>
              </a:spcBef>
              <a:spcAft>
                <a:spcPts val="0"/>
              </a:spcAft>
              <a:buNone/>
            </a:pPr>
            <a:r>
              <a:rPr lang="fr" sz="1500">
                <a:solidFill>
                  <a:schemeClr val="dk1"/>
                </a:solidFill>
                <a:latin typeface="Oswald"/>
                <a:ea typeface="Oswald"/>
                <a:cs typeface="Oswald"/>
                <a:sym typeface="Oswald"/>
              </a:rPr>
              <a:t>• Smovengo provides open access to Vélib’s real-time operational data through a </a:t>
            </a:r>
            <a:r>
              <a:rPr lang="fr" sz="1500" u="sng">
                <a:solidFill>
                  <a:srgbClr val="F5DCA1"/>
                </a:solidFill>
                <a:latin typeface="Oswald"/>
                <a:ea typeface="Oswald"/>
                <a:cs typeface="Oswald"/>
                <a:sym typeface="Oswald"/>
                <a:hlinkClick r:id="rId3">
                  <a:extLst>
                    <a:ext uri="{A12FA001-AC4F-418D-AE19-62706E023703}">
                      <ahyp:hlinkClr val="tx"/>
                    </a:ext>
                  </a:extLst>
                </a:hlinkClick>
              </a:rPr>
              <a:t>public API</a:t>
            </a:r>
            <a:endParaRPr sz="1500">
              <a:solidFill>
                <a:schemeClr val="dk1"/>
              </a:solidFill>
              <a:latin typeface="Oswald"/>
              <a:ea typeface="Oswald"/>
              <a:cs typeface="Oswald"/>
              <a:sym typeface="Oswald"/>
            </a:endParaRPr>
          </a:p>
          <a:p>
            <a:pPr indent="0" lvl="0" marL="0" rtl="0" algn="l">
              <a:lnSpc>
                <a:spcPct val="95000"/>
              </a:lnSpc>
              <a:spcBef>
                <a:spcPts val="1200"/>
              </a:spcBef>
              <a:spcAft>
                <a:spcPts val="1200"/>
              </a:spcAft>
              <a:buSzPts val="523"/>
              <a:buNone/>
            </a:pPr>
            <a:r>
              <a:t/>
            </a:r>
            <a:endParaRPr sz="1500">
              <a:solidFill>
                <a:schemeClr val="dk1"/>
              </a:solidFill>
              <a:latin typeface="Oswald"/>
              <a:ea typeface="Oswald"/>
              <a:cs typeface="Oswald"/>
              <a:sym typeface="Oswald"/>
            </a:endParaRPr>
          </a:p>
        </p:txBody>
      </p:sp>
      <p:sp>
        <p:nvSpPr>
          <p:cNvPr id="80" name="Google Shape;80;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Vélib’</a:t>
            </a:r>
            <a:endParaRPr>
              <a:solidFill>
                <a:srgbClr val="F5DCA1"/>
              </a:solidFill>
            </a:endParaRPr>
          </a:p>
        </p:txBody>
      </p:sp>
      <p:pic>
        <p:nvPicPr>
          <p:cNvPr id="81" name="Google Shape;81;p15"/>
          <p:cNvPicPr preferRelativeResize="0"/>
          <p:nvPr/>
        </p:nvPicPr>
        <p:blipFill rotWithShape="1">
          <a:blip r:embed="rId4">
            <a:alphaModFix/>
          </a:blip>
          <a:srcRect b="6259" l="1623" r="4568" t="5705"/>
          <a:stretch/>
        </p:blipFill>
        <p:spPr>
          <a:xfrm>
            <a:off x="1746829" y="4630679"/>
            <a:ext cx="1558342" cy="292500"/>
          </a:xfrm>
          <a:prstGeom prst="rect">
            <a:avLst/>
          </a:prstGeom>
          <a:noFill/>
          <a:ln>
            <a:noFill/>
          </a:ln>
        </p:spPr>
      </p:pic>
      <p:pic>
        <p:nvPicPr>
          <p:cNvPr id="82" name="Google Shape;82;p15"/>
          <p:cNvPicPr preferRelativeResize="0"/>
          <p:nvPr/>
        </p:nvPicPr>
        <p:blipFill>
          <a:blip r:embed="rId5">
            <a:alphaModFix/>
          </a:blip>
          <a:stretch>
            <a:fillRect/>
          </a:stretch>
        </p:blipFill>
        <p:spPr>
          <a:xfrm>
            <a:off x="5029183" y="0"/>
            <a:ext cx="4114824" cy="5143500"/>
          </a:xfrm>
          <a:prstGeom prst="rect">
            <a:avLst/>
          </a:prstGeom>
          <a:noFill/>
          <a:ln>
            <a:noFill/>
          </a:ln>
        </p:spPr>
      </p:pic>
      <p:sp>
        <p:nvSpPr>
          <p:cNvPr id="83" name="Google Shape;83;p15"/>
          <p:cNvSpPr txBox="1"/>
          <p:nvPr/>
        </p:nvSpPr>
        <p:spPr>
          <a:xfrm>
            <a:off x="7959524" y="4912999"/>
            <a:ext cx="1241400" cy="292500"/>
          </a:xfrm>
          <a:prstGeom prst="rect">
            <a:avLst/>
          </a:prstGeom>
          <a:noFill/>
          <a:ln>
            <a:noFill/>
          </a:ln>
          <a:effectLst>
            <a:outerShdw rotWithShape="0" algn="bl">
              <a:srgbClr val="000000">
                <a:alpha val="0"/>
              </a:srgbClr>
            </a:outerShdw>
          </a:effectLst>
        </p:spPr>
        <p:txBody>
          <a:bodyPr anchorCtr="0" anchor="t" bIns="91425" lIns="91425" spcFirstLastPara="1" rIns="91425" wrap="square" tIns="91425">
            <a:spAutoFit/>
          </a:bodyPr>
          <a:lstStyle/>
          <a:p>
            <a:pPr indent="0" lvl="0" marL="0" rtl="0" algn="r">
              <a:spcBef>
                <a:spcPts val="0"/>
              </a:spcBef>
              <a:spcAft>
                <a:spcPts val="0"/>
              </a:spcAft>
              <a:buNone/>
            </a:pPr>
            <a:r>
              <a:rPr lang="fr" sz="700">
                <a:solidFill>
                  <a:schemeClr val="dk1"/>
                </a:solidFill>
                <a:highlight>
                  <a:srgbClr val="B1A3A0"/>
                </a:highlight>
                <a:latin typeface="Helvetica Neue"/>
                <a:ea typeface="Helvetica Neue"/>
                <a:cs typeface="Helvetica Neue"/>
                <a:sym typeface="Helvetica Neue"/>
              </a:rPr>
              <a:t>Source: </a:t>
            </a:r>
            <a:r>
              <a:rPr lang="fr" sz="700">
                <a:solidFill>
                  <a:schemeClr val="dk1"/>
                </a:solidFill>
                <a:highlight>
                  <a:srgbClr val="B1A3A0"/>
                </a:highlight>
                <a:latin typeface="Helvetica Neue"/>
                <a:ea typeface="Helvetica Neue"/>
                <a:cs typeface="Helvetica Neue"/>
                <a:sym typeface="Helvetica Neue"/>
              </a:rPr>
              <a:t>group-indigo.com</a:t>
            </a:r>
            <a:endParaRPr sz="700">
              <a:solidFill>
                <a:schemeClr val="dk1"/>
              </a:solidFill>
              <a:highlight>
                <a:srgbClr val="B1A3A0"/>
              </a:highlight>
              <a:latin typeface="Helvetica Neue"/>
              <a:ea typeface="Helvetica Neue"/>
              <a:cs typeface="Helvetica Neue"/>
              <a:sym typeface="Helvetica Neue"/>
            </a:endParaRPr>
          </a:p>
        </p:txBody>
      </p:sp>
      <p:pic>
        <p:nvPicPr>
          <p:cNvPr id="84" name="Google Shape;84;p15"/>
          <p:cNvPicPr preferRelativeResize="0"/>
          <p:nvPr/>
        </p:nvPicPr>
        <p:blipFill>
          <a:blip r:embed="rId6">
            <a:alphaModFix/>
          </a:blip>
          <a:stretch>
            <a:fillRect/>
          </a:stretch>
        </p:blipFill>
        <p:spPr>
          <a:xfrm>
            <a:off x="7791473" y="143100"/>
            <a:ext cx="1176550" cy="1176550"/>
          </a:xfrm>
          <a:prstGeom prst="rect">
            <a:avLst/>
          </a:prstGeom>
          <a:noFill/>
          <a:ln>
            <a:noFill/>
          </a:ln>
        </p:spPr>
      </p:pic>
      <p:sp>
        <p:nvSpPr>
          <p:cNvPr id="85" name="Google Shape;85;p15"/>
          <p:cNvSpPr txBox="1"/>
          <p:nvPr>
            <p:ph idx="1" type="body"/>
          </p:nvPr>
        </p:nvSpPr>
        <p:spPr>
          <a:xfrm>
            <a:off x="468600" y="2954700"/>
            <a:ext cx="4114800" cy="1475700"/>
          </a:xfrm>
          <a:prstGeom prst="rect">
            <a:avLst/>
          </a:prstGeom>
          <a:ln cap="flat" cmpd="sng" w="19050">
            <a:solidFill>
              <a:srgbClr val="F5DCA1"/>
            </a:solidFill>
            <a:prstDash val="solid"/>
            <a:round/>
            <a:headEnd len="sm" w="sm" type="none"/>
            <a:tailEnd len="sm" w="sm" type="none"/>
          </a:ln>
        </p:spPr>
        <p:txBody>
          <a:bodyPr anchorCtr="0" anchor="t" bIns="0" lIns="72000" spcFirstLastPara="1" rIns="0" wrap="square" tIns="72000">
            <a:noAutofit/>
          </a:bodyPr>
          <a:lstStyle/>
          <a:p>
            <a:pPr indent="0" lvl="0" marL="0" rtl="0" algn="l">
              <a:lnSpc>
                <a:spcPct val="115000"/>
              </a:lnSpc>
              <a:spcBef>
                <a:spcPts val="1000"/>
              </a:spcBef>
              <a:spcAft>
                <a:spcPts val="1200"/>
              </a:spcAft>
              <a:buSzPts val="523"/>
              <a:buNone/>
            </a:pPr>
            <a:r>
              <a:rPr lang="fr" sz="1500">
                <a:solidFill>
                  <a:schemeClr val="dk1"/>
                </a:solidFill>
                <a:latin typeface="Oswald"/>
                <a:ea typeface="Oswald"/>
                <a:cs typeface="Oswald"/>
                <a:sym typeface="Oswald"/>
              </a:rPr>
              <a:t>Key figures:</a:t>
            </a:r>
            <a:br>
              <a:rPr lang="fr" sz="1500">
                <a:solidFill>
                  <a:schemeClr val="dk1"/>
                </a:solidFill>
                <a:latin typeface="Oswald"/>
                <a:ea typeface="Oswald"/>
                <a:cs typeface="Oswald"/>
                <a:sym typeface="Oswald"/>
              </a:rPr>
            </a:br>
            <a:r>
              <a:rPr lang="fr" sz="1500">
                <a:solidFill>
                  <a:schemeClr val="dk1"/>
                </a:solidFill>
                <a:latin typeface="Oswald"/>
                <a:ea typeface="Oswald"/>
                <a:cs typeface="Oswald"/>
                <a:sym typeface="Oswald"/>
              </a:rPr>
              <a:t>• 1 station approximately every 300 meters in Paris</a:t>
            </a:r>
            <a:br>
              <a:rPr lang="fr" sz="1500">
                <a:solidFill>
                  <a:schemeClr val="dk1"/>
                </a:solidFill>
                <a:latin typeface="Oswald"/>
                <a:ea typeface="Oswald"/>
                <a:cs typeface="Oswald"/>
                <a:sym typeface="Oswald"/>
              </a:rPr>
            </a:br>
            <a:r>
              <a:rPr lang="fr" sz="1500">
                <a:solidFill>
                  <a:schemeClr val="dk1"/>
                </a:solidFill>
                <a:latin typeface="Oswald"/>
                <a:ea typeface="Oswald"/>
                <a:cs typeface="Oswald"/>
                <a:sym typeface="Oswald"/>
              </a:rPr>
              <a:t>• 1,500 stations across Paris and the Île-de-France region</a:t>
            </a:r>
            <a:br>
              <a:rPr lang="fr" sz="1500">
                <a:solidFill>
                  <a:schemeClr val="dk1"/>
                </a:solidFill>
                <a:latin typeface="Oswald"/>
                <a:ea typeface="Oswald"/>
                <a:cs typeface="Oswald"/>
                <a:sym typeface="Oswald"/>
              </a:rPr>
            </a:br>
            <a:r>
              <a:rPr lang="fr" sz="1500">
                <a:solidFill>
                  <a:schemeClr val="dk1"/>
                </a:solidFill>
                <a:latin typeface="Oswald"/>
                <a:ea typeface="Oswald"/>
                <a:cs typeface="Oswald"/>
                <a:sym typeface="Oswald"/>
              </a:rPr>
              <a:t>• 20,000 bicycles, including 40% electric-assisted bikes</a:t>
            </a:r>
            <a:br>
              <a:rPr lang="fr" sz="1500">
                <a:solidFill>
                  <a:schemeClr val="dk1"/>
                </a:solidFill>
                <a:latin typeface="Oswald"/>
                <a:ea typeface="Oswald"/>
                <a:cs typeface="Oswald"/>
                <a:sym typeface="Oswald"/>
              </a:rPr>
            </a:br>
            <a:r>
              <a:rPr lang="fr" sz="1500">
                <a:solidFill>
                  <a:schemeClr val="dk1"/>
                </a:solidFill>
                <a:latin typeface="Oswald"/>
                <a:ea typeface="Oswald"/>
                <a:cs typeface="Oswald"/>
                <a:sym typeface="Oswald"/>
              </a:rPr>
              <a:t>• 940,000 unique users in 2025</a:t>
            </a:r>
            <a:endParaRPr sz="1500">
              <a:solidFill>
                <a:schemeClr val="dk1"/>
              </a:solidFill>
              <a:latin typeface="Oswald"/>
              <a:ea typeface="Oswald"/>
              <a:cs typeface="Oswald"/>
              <a:sym typeface="Oswa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Introduction</a:t>
            </a:r>
            <a:endParaRPr>
              <a:solidFill>
                <a:srgbClr val="F5DCA1"/>
              </a:solidFill>
            </a:endParaRPr>
          </a:p>
        </p:txBody>
      </p:sp>
      <p:pic>
        <p:nvPicPr>
          <p:cNvPr id="91" name="Google Shape;91;p16" title="AK.png"/>
          <p:cNvPicPr preferRelativeResize="0"/>
          <p:nvPr/>
        </p:nvPicPr>
        <p:blipFill rotWithShape="1">
          <a:blip r:embed="rId3">
            <a:alphaModFix/>
          </a:blip>
          <a:srcRect b="0" l="0" r="0" t="0"/>
          <a:stretch/>
        </p:blipFill>
        <p:spPr>
          <a:xfrm>
            <a:off x="8538151" y="225401"/>
            <a:ext cx="370350" cy="370350"/>
          </a:xfrm>
          <a:prstGeom prst="rect">
            <a:avLst/>
          </a:prstGeom>
          <a:noFill/>
          <a:ln>
            <a:noFill/>
          </a:ln>
        </p:spPr>
      </p:pic>
      <p:sp>
        <p:nvSpPr>
          <p:cNvPr id="92" name="Google Shape;92;p16"/>
          <p:cNvSpPr txBox="1"/>
          <p:nvPr>
            <p:ph idx="1" type="body"/>
          </p:nvPr>
        </p:nvSpPr>
        <p:spPr>
          <a:xfrm>
            <a:off x="415000" y="1017727"/>
            <a:ext cx="8417400" cy="3781200"/>
          </a:xfrm>
          <a:prstGeom prst="rect">
            <a:avLst/>
          </a:prstGeom>
        </p:spPr>
        <p:txBody>
          <a:bodyPr anchorCtr="0" anchor="t" bIns="91425" lIns="91425" spcFirstLastPara="1" rIns="91425" wrap="square" tIns="91425">
            <a:noAutofit/>
          </a:bodyPr>
          <a:lstStyle/>
          <a:p>
            <a:pPr indent="0" lvl="0" marL="0" rtl="0" algn="l">
              <a:lnSpc>
                <a:spcPct val="100000"/>
              </a:lnSpc>
              <a:spcBef>
                <a:spcPts val="1200"/>
              </a:spcBef>
              <a:spcAft>
                <a:spcPts val="0"/>
              </a:spcAft>
              <a:buNone/>
            </a:pPr>
            <a:r>
              <a:rPr lang="fr" sz="1700">
                <a:solidFill>
                  <a:schemeClr val="dk1"/>
                </a:solidFill>
                <a:latin typeface="Oswald"/>
                <a:ea typeface="Oswald"/>
                <a:cs typeface="Oswald"/>
                <a:sym typeface="Oswald"/>
              </a:rPr>
              <a:t>• </a:t>
            </a:r>
            <a:r>
              <a:rPr lang="fr" sz="1700">
                <a:solidFill>
                  <a:schemeClr val="dk1"/>
                </a:solidFill>
                <a:latin typeface="Oswald"/>
                <a:ea typeface="Oswald"/>
                <a:cs typeface="Oswald"/>
                <a:sym typeface="Oswald"/>
              </a:rPr>
              <a:t>VelOps is an end-to-end </a:t>
            </a:r>
            <a:r>
              <a:rPr lang="fr" sz="1700">
                <a:solidFill>
                  <a:srgbClr val="F5DCA1"/>
                </a:solidFill>
                <a:latin typeface="Oswald"/>
                <a:ea typeface="Oswald"/>
                <a:cs typeface="Oswald"/>
                <a:sym typeface="Oswald"/>
              </a:rPr>
              <a:t>machine learning project</a:t>
            </a:r>
            <a:r>
              <a:rPr lang="fr" sz="1700">
                <a:solidFill>
                  <a:schemeClr val="dk1"/>
                </a:solidFill>
                <a:latin typeface="Oswald"/>
                <a:ea typeface="Oswald"/>
                <a:cs typeface="Oswald"/>
                <a:sym typeface="Oswald"/>
              </a:rPr>
              <a:t> using Vélib’ data</a:t>
            </a:r>
            <a:endParaRPr sz="1700">
              <a:solidFill>
                <a:schemeClr val="dk1"/>
              </a:solidFill>
              <a:latin typeface="Oswald"/>
              <a:ea typeface="Oswald"/>
              <a:cs typeface="Oswald"/>
              <a:sym typeface="Oswald"/>
            </a:endParaRPr>
          </a:p>
          <a:p>
            <a:pPr indent="0" lvl="0" marL="0" rtl="0" algn="l">
              <a:lnSpc>
                <a:spcPct val="100000"/>
              </a:lnSpc>
              <a:spcBef>
                <a:spcPts val="1200"/>
              </a:spcBef>
              <a:spcAft>
                <a:spcPts val="0"/>
              </a:spcAft>
              <a:buNone/>
            </a:pPr>
            <a:r>
              <a:rPr lang="fr" sz="1700">
                <a:solidFill>
                  <a:schemeClr val="dk1"/>
                </a:solidFill>
                <a:latin typeface="Oswald"/>
                <a:ea typeface="Oswald"/>
                <a:cs typeface="Oswald"/>
                <a:sym typeface="Oswald"/>
              </a:rPr>
              <a:t>• Its goal is to </a:t>
            </a:r>
            <a:r>
              <a:rPr lang="fr" sz="1700">
                <a:solidFill>
                  <a:srgbClr val="F5DCA1"/>
                </a:solidFill>
                <a:latin typeface="Oswald"/>
                <a:ea typeface="Oswald"/>
                <a:cs typeface="Oswald"/>
                <a:sym typeface="Oswald"/>
              </a:rPr>
              <a:t>predict bike availability</a:t>
            </a:r>
            <a:r>
              <a:rPr lang="fr" sz="1700">
                <a:solidFill>
                  <a:schemeClr val="dk1"/>
                </a:solidFill>
                <a:latin typeface="Oswald"/>
                <a:ea typeface="Oswald"/>
                <a:cs typeface="Oswald"/>
                <a:sym typeface="Oswald"/>
              </a:rPr>
              <a:t> states at station level within a two-hour horizon</a:t>
            </a:r>
            <a:endParaRPr sz="1700">
              <a:solidFill>
                <a:schemeClr val="dk1"/>
              </a:solidFill>
              <a:latin typeface="Oswald"/>
              <a:ea typeface="Oswald"/>
              <a:cs typeface="Oswald"/>
              <a:sym typeface="Oswald"/>
            </a:endParaRPr>
          </a:p>
          <a:p>
            <a:pPr indent="0" lvl="0" marL="0" rtl="0" algn="l">
              <a:lnSpc>
                <a:spcPct val="100000"/>
              </a:lnSpc>
              <a:spcBef>
                <a:spcPts val="1200"/>
              </a:spcBef>
              <a:spcAft>
                <a:spcPts val="0"/>
              </a:spcAft>
              <a:buNone/>
            </a:pPr>
            <a:r>
              <a:rPr lang="fr" sz="1700">
                <a:solidFill>
                  <a:schemeClr val="dk1"/>
                </a:solidFill>
                <a:latin typeface="Oswald"/>
                <a:ea typeface="Oswald"/>
                <a:cs typeface="Oswald"/>
                <a:sym typeface="Oswald"/>
              </a:rPr>
              <a:t>• The system runs on a Raspberry Pi, highlighting a lightweight and resource-efficient setup</a:t>
            </a:r>
            <a:endParaRPr sz="1700">
              <a:solidFill>
                <a:schemeClr val="dk1"/>
              </a:solidFill>
              <a:latin typeface="Oswald"/>
              <a:ea typeface="Oswald"/>
              <a:cs typeface="Oswald"/>
              <a:sym typeface="Oswald"/>
            </a:endParaRPr>
          </a:p>
          <a:p>
            <a:pPr indent="0" lvl="0" marL="0" rtl="0" algn="l">
              <a:lnSpc>
                <a:spcPct val="100000"/>
              </a:lnSpc>
              <a:spcBef>
                <a:spcPts val="1200"/>
              </a:spcBef>
              <a:spcAft>
                <a:spcPts val="0"/>
              </a:spcAft>
              <a:buNone/>
            </a:pPr>
            <a:r>
              <a:rPr lang="fr" sz="1700">
                <a:solidFill>
                  <a:schemeClr val="dk1"/>
                </a:solidFill>
                <a:latin typeface="Oswald"/>
                <a:ea typeface="Oswald"/>
                <a:cs typeface="Oswald"/>
                <a:sym typeface="Oswald"/>
              </a:rPr>
              <a:t>• The project relies on a broad set of </a:t>
            </a:r>
            <a:r>
              <a:rPr lang="fr" sz="1700">
                <a:solidFill>
                  <a:srgbClr val="F5DCA1"/>
                </a:solidFill>
                <a:latin typeface="Oswald"/>
                <a:ea typeface="Oswald"/>
                <a:cs typeface="Oswald"/>
                <a:sym typeface="Oswald"/>
              </a:rPr>
              <a:t>modern data technologies</a:t>
            </a:r>
            <a:r>
              <a:rPr lang="fr" sz="1700">
                <a:solidFill>
                  <a:schemeClr val="dk1"/>
                </a:solidFill>
                <a:latin typeface="Oswald"/>
                <a:ea typeface="Oswald"/>
                <a:cs typeface="Oswald"/>
                <a:sym typeface="Oswald"/>
              </a:rPr>
              <a:t> across the full workflow</a:t>
            </a:r>
            <a:endParaRPr sz="1700">
              <a:solidFill>
                <a:schemeClr val="dk1"/>
              </a:solidFill>
              <a:latin typeface="Oswald"/>
              <a:ea typeface="Oswald"/>
              <a:cs typeface="Oswald"/>
              <a:sym typeface="Oswald"/>
            </a:endParaRPr>
          </a:p>
          <a:p>
            <a:pPr indent="0" lvl="0" marL="0" rtl="0" algn="l">
              <a:lnSpc>
                <a:spcPct val="100000"/>
              </a:lnSpc>
              <a:spcBef>
                <a:spcPts val="1200"/>
              </a:spcBef>
              <a:spcAft>
                <a:spcPts val="1200"/>
              </a:spcAft>
              <a:buNone/>
            </a:pPr>
            <a:r>
              <a:rPr lang="fr" sz="1700">
                <a:solidFill>
                  <a:schemeClr val="dk1"/>
                </a:solidFill>
                <a:latin typeface="Oswald"/>
                <a:ea typeface="Oswald"/>
                <a:cs typeface="Oswald"/>
                <a:sym typeface="Oswald"/>
              </a:rPr>
              <a:t>• The project is structured into two independent components: one dedicated to </a:t>
            </a:r>
            <a:r>
              <a:rPr lang="fr" sz="1700">
                <a:solidFill>
                  <a:srgbClr val="F5DCA1"/>
                </a:solidFill>
                <a:latin typeface="Oswald"/>
                <a:ea typeface="Oswald"/>
                <a:cs typeface="Oswald"/>
                <a:sym typeface="Oswald"/>
              </a:rPr>
              <a:t>data ingestion and transformation</a:t>
            </a:r>
            <a:r>
              <a:rPr lang="fr" sz="1700">
                <a:solidFill>
                  <a:schemeClr val="dk1"/>
                </a:solidFill>
                <a:latin typeface="Oswald"/>
                <a:ea typeface="Oswald"/>
                <a:cs typeface="Oswald"/>
                <a:sym typeface="Oswald"/>
              </a:rPr>
              <a:t>, and another focused on </a:t>
            </a:r>
            <a:r>
              <a:rPr lang="fr" sz="1700">
                <a:solidFill>
                  <a:srgbClr val="F5DCA1"/>
                </a:solidFill>
                <a:latin typeface="Oswald"/>
                <a:ea typeface="Oswald"/>
                <a:cs typeface="Oswald"/>
                <a:sym typeface="Oswald"/>
              </a:rPr>
              <a:t>machine learning</a:t>
            </a:r>
            <a:endParaRPr sz="1700">
              <a:solidFill>
                <a:srgbClr val="F5DCA1"/>
              </a:solidFill>
              <a:latin typeface="Oswald"/>
              <a:ea typeface="Oswald"/>
              <a:cs typeface="Oswald"/>
              <a:sym typeface="Oswald"/>
            </a:endParaRPr>
          </a:p>
        </p:txBody>
      </p:sp>
      <p:pic>
        <p:nvPicPr>
          <p:cNvPr id="93" name="Google Shape;93;p16" title="pngegg-modified.png"/>
          <p:cNvPicPr preferRelativeResize="0"/>
          <p:nvPr/>
        </p:nvPicPr>
        <p:blipFill rotWithShape="1">
          <a:blip r:embed="rId4">
            <a:alphaModFix amt="20000"/>
          </a:blip>
          <a:srcRect b="28422" l="11150" r="11041" t="28448"/>
          <a:stretch/>
        </p:blipFill>
        <p:spPr>
          <a:xfrm>
            <a:off x="3567647" y="3628100"/>
            <a:ext cx="2112100" cy="11708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Infrastructure</a:t>
            </a:r>
            <a:endParaRPr>
              <a:solidFill>
                <a:srgbClr val="F5DCA1"/>
              </a:solidFill>
            </a:endParaRPr>
          </a:p>
        </p:txBody>
      </p:sp>
      <p:pic>
        <p:nvPicPr>
          <p:cNvPr id="99" name="Google Shape;99;p17" title="AK.png"/>
          <p:cNvPicPr preferRelativeResize="0"/>
          <p:nvPr/>
        </p:nvPicPr>
        <p:blipFill rotWithShape="1">
          <a:blip r:embed="rId3">
            <a:alphaModFix/>
          </a:blip>
          <a:srcRect b="0" l="0" r="0" t="0"/>
          <a:stretch/>
        </p:blipFill>
        <p:spPr>
          <a:xfrm>
            <a:off x="8538151" y="225401"/>
            <a:ext cx="370350" cy="370350"/>
          </a:xfrm>
          <a:prstGeom prst="rect">
            <a:avLst/>
          </a:prstGeom>
          <a:noFill/>
          <a:ln>
            <a:noFill/>
          </a:ln>
        </p:spPr>
      </p:pic>
      <p:pic>
        <p:nvPicPr>
          <p:cNvPr id="100" name="Google Shape;100;p17" title="velops-Infrastucture.png"/>
          <p:cNvPicPr preferRelativeResize="0"/>
          <p:nvPr/>
        </p:nvPicPr>
        <p:blipFill rotWithShape="1">
          <a:blip r:embed="rId4">
            <a:alphaModFix/>
          </a:blip>
          <a:srcRect b="0" l="0" r="0" t="0"/>
          <a:stretch/>
        </p:blipFill>
        <p:spPr>
          <a:xfrm>
            <a:off x="1625125" y="1093425"/>
            <a:ext cx="5893750" cy="37753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Data Ingestion</a:t>
            </a:r>
            <a:endParaRPr>
              <a:solidFill>
                <a:srgbClr val="F5DCA1"/>
              </a:solidFill>
            </a:endParaRPr>
          </a:p>
        </p:txBody>
      </p:sp>
      <p:pic>
        <p:nvPicPr>
          <p:cNvPr id="106" name="Google Shape;106;p18" title="AK.png"/>
          <p:cNvPicPr preferRelativeResize="0"/>
          <p:nvPr/>
        </p:nvPicPr>
        <p:blipFill rotWithShape="1">
          <a:blip r:embed="rId3">
            <a:alphaModFix/>
          </a:blip>
          <a:srcRect b="0" l="0" r="0" t="0"/>
          <a:stretch/>
        </p:blipFill>
        <p:spPr>
          <a:xfrm>
            <a:off x="8538151" y="225401"/>
            <a:ext cx="370350" cy="370350"/>
          </a:xfrm>
          <a:prstGeom prst="rect">
            <a:avLst/>
          </a:prstGeom>
          <a:noFill/>
          <a:ln>
            <a:noFill/>
          </a:ln>
        </p:spPr>
      </p:pic>
      <p:pic>
        <p:nvPicPr>
          <p:cNvPr id="107" name="Google Shape;107;p18" title="velops-Data Ingestion.png"/>
          <p:cNvPicPr preferRelativeResize="0"/>
          <p:nvPr/>
        </p:nvPicPr>
        <p:blipFill>
          <a:blip r:embed="rId4">
            <a:alphaModFix/>
          </a:blip>
          <a:stretch>
            <a:fillRect/>
          </a:stretch>
        </p:blipFill>
        <p:spPr>
          <a:xfrm>
            <a:off x="554875" y="1159050"/>
            <a:ext cx="8034248" cy="38209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9"/>
          <p:cNvSpPr txBox="1"/>
          <p:nvPr>
            <p:ph type="title"/>
          </p:nvPr>
        </p:nvSpPr>
        <p:spPr>
          <a:xfrm>
            <a:off x="311700" y="961120"/>
            <a:ext cx="2808000" cy="7557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SzPts val="990"/>
              <a:buNone/>
            </a:pPr>
            <a:r>
              <a:rPr lang="fr" sz="2000">
                <a:solidFill>
                  <a:srgbClr val="F5DCA1"/>
                </a:solidFill>
              </a:rPr>
              <a:t>Data Storage: Amazon S3</a:t>
            </a:r>
            <a:endParaRPr sz="2000">
              <a:solidFill>
                <a:srgbClr val="F5DCA1"/>
              </a:solidFill>
            </a:endParaRPr>
          </a:p>
        </p:txBody>
      </p:sp>
      <p:sp>
        <p:nvSpPr>
          <p:cNvPr id="113" name="Google Shape;113;p19"/>
          <p:cNvSpPr txBox="1"/>
          <p:nvPr>
            <p:ph idx="1" type="body"/>
          </p:nvPr>
        </p:nvSpPr>
        <p:spPr>
          <a:xfrm>
            <a:off x="311700" y="1795120"/>
            <a:ext cx="2808000" cy="31794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fr" sz="1450">
                <a:solidFill>
                  <a:srgbClr val="FFFFFF"/>
                </a:solidFill>
                <a:latin typeface="Oswald"/>
                <a:ea typeface="Oswald"/>
                <a:cs typeface="Oswald"/>
                <a:sym typeface="Oswald"/>
              </a:rPr>
              <a:t>Amazon S3 acts as the </a:t>
            </a:r>
            <a:r>
              <a:rPr lang="fr" sz="1450">
                <a:solidFill>
                  <a:srgbClr val="F5DCA1"/>
                </a:solidFill>
                <a:latin typeface="Oswald"/>
                <a:ea typeface="Oswald"/>
                <a:cs typeface="Oswald"/>
                <a:sym typeface="Oswald"/>
              </a:rPr>
              <a:t>raw storage layer</a:t>
            </a:r>
            <a:r>
              <a:rPr lang="fr" sz="1450">
                <a:solidFill>
                  <a:srgbClr val="FFFFFF"/>
                </a:solidFill>
                <a:latin typeface="Oswald"/>
                <a:ea typeface="Oswald"/>
                <a:cs typeface="Oswald"/>
                <a:sym typeface="Oswald"/>
              </a:rPr>
              <a:t> of the pipeline.</a:t>
            </a:r>
            <a:endParaRPr sz="1450">
              <a:solidFill>
                <a:srgbClr val="FFFFFF"/>
              </a:solidFill>
              <a:latin typeface="Oswald"/>
              <a:ea typeface="Oswald"/>
              <a:cs typeface="Oswald"/>
              <a:sym typeface="Oswald"/>
            </a:endParaRPr>
          </a:p>
          <a:p>
            <a:pPr indent="0" lvl="0" marL="0" rtl="0" algn="l">
              <a:lnSpc>
                <a:spcPct val="115000"/>
              </a:lnSpc>
              <a:spcBef>
                <a:spcPts val="0"/>
              </a:spcBef>
              <a:spcAft>
                <a:spcPts val="0"/>
              </a:spcAft>
              <a:buNone/>
            </a:pPr>
            <a:r>
              <a:rPr lang="fr" sz="1450">
                <a:solidFill>
                  <a:srgbClr val="FFFFFF"/>
                </a:solidFill>
                <a:latin typeface="Oswald"/>
                <a:ea typeface="Oswald"/>
                <a:cs typeface="Oswald"/>
                <a:sym typeface="Oswald"/>
              </a:rPr>
              <a:t>Data is ingested and stored</a:t>
            </a:r>
            <a:endParaRPr sz="1450">
              <a:solidFill>
                <a:srgbClr val="FFFFFF"/>
              </a:solidFill>
              <a:latin typeface="Oswald"/>
              <a:ea typeface="Oswald"/>
              <a:cs typeface="Oswald"/>
              <a:sym typeface="Oswald"/>
            </a:endParaRPr>
          </a:p>
          <a:p>
            <a:pPr indent="0" lvl="0" marL="0" rtl="0" algn="l">
              <a:lnSpc>
                <a:spcPct val="115000"/>
              </a:lnSpc>
              <a:spcBef>
                <a:spcPts val="0"/>
              </a:spcBef>
              <a:spcAft>
                <a:spcPts val="0"/>
              </a:spcAft>
              <a:buNone/>
            </a:pPr>
            <a:r>
              <a:rPr lang="fr" sz="1450">
                <a:solidFill>
                  <a:srgbClr val="FFFFFF"/>
                </a:solidFill>
                <a:latin typeface="Oswald"/>
                <a:ea typeface="Oswald"/>
                <a:cs typeface="Oswald"/>
                <a:sym typeface="Oswald"/>
              </a:rPr>
              <a:t>as CSV files using a date-partitioned structure:</a:t>
            </a:r>
            <a:endParaRPr sz="1450">
              <a:solidFill>
                <a:srgbClr val="FFFFFF"/>
              </a:solidFill>
              <a:latin typeface="Oswald"/>
              <a:ea typeface="Oswald"/>
              <a:cs typeface="Oswald"/>
              <a:sym typeface="Oswald"/>
            </a:endParaRPr>
          </a:p>
          <a:p>
            <a:pPr indent="0" lvl="0" marL="0" rtl="0" algn="l">
              <a:lnSpc>
                <a:spcPct val="115000"/>
              </a:lnSpc>
              <a:spcBef>
                <a:spcPts val="0"/>
              </a:spcBef>
              <a:spcAft>
                <a:spcPts val="0"/>
              </a:spcAft>
              <a:buNone/>
            </a:pPr>
            <a:r>
              <a:t/>
            </a:r>
            <a:endParaRPr sz="1150">
              <a:solidFill>
                <a:srgbClr val="FFFFFF"/>
              </a:solidFill>
              <a:latin typeface="Consolas"/>
              <a:ea typeface="Consolas"/>
              <a:cs typeface="Consolas"/>
              <a:sym typeface="Consolas"/>
            </a:endParaRPr>
          </a:p>
          <a:p>
            <a:pPr indent="0" lvl="0" marL="0" rtl="0" algn="l">
              <a:lnSpc>
                <a:spcPct val="115000"/>
              </a:lnSpc>
              <a:spcBef>
                <a:spcPts val="0"/>
              </a:spcBef>
              <a:spcAft>
                <a:spcPts val="0"/>
              </a:spcAft>
              <a:buNone/>
            </a:pPr>
            <a:r>
              <a:rPr lang="fr" sz="1150">
                <a:solidFill>
                  <a:srgbClr val="FFFFFF"/>
                </a:solidFill>
                <a:latin typeface="Consolas"/>
                <a:ea typeface="Consolas"/>
                <a:cs typeface="Consolas"/>
                <a:sym typeface="Consolas"/>
              </a:rPr>
              <a:t>station_status/raw/</a:t>
            </a:r>
            <a:endParaRPr sz="1150">
              <a:solidFill>
                <a:srgbClr val="FFFFFF"/>
              </a:solidFill>
              <a:latin typeface="Consolas"/>
              <a:ea typeface="Consolas"/>
              <a:cs typeface="Consolas"/>
              <a:sym typeface="Consolas"/>
            </a:endParaRPr>
          </a:p>
          <a:p>
            <a:pPr indent="0" lvl="0" marL="0" rtl="0" algn="l">
              <a:lnSpc>
                <a:spcPct val="115000"/>
              </a:lnSpc>
              <a:spcBef>
                <a:spcPts val="0"/>
              </a:spcBef>
              <a:spcAft>
                <a:spcPts val="0"/>
              </a:spcAft>
              <a:buNone/>
            </a:pPr>
            <a:r>
              <a:rPr lang="fr" sz="1150">
                <a:solidFill>
                  <a:srgbClr val="FFFFFF"/>
                </a:solidFill>
                <a:latin typeface="Consolas"/>
                <a:ea typeface="Consolas"/>
                <a:cs typeface="Consolas"/>
                <a:sym typeface="Consolas"/>
              </a:rPr>
              <a:t>└── year/</a:t>
            </a:r>
            <a:endParaRPr sz="1150">
              <a:solidFill>
                <a:srgbClr val="FFFFFF"/>
              </a:solidFill>
              <a:latin typeface="Consolas"/>
              <a:ea typeface="Consolas"/>
              <a:cs typeface="Consolas"/>
              <a:sym typeface="Consolas"/>
            </a:endParaRPr>
          </a:p>
          <a:p>
            <a:pPr indent="0" lvl="0" marL="0" rtl="0" algn="l">
              <a:lnSpc>
                <a:spcPct val="115000"/>
              </a:lnSpc>
              <a:spcBef>
                <a:spcPts val="0"/>
              </a:spcBef>
              <a:spcAft>
                <a:spcPts val="0"/>
              </a:spcAft>
              <a:buNone/>
            </a:pPr>
            <a:r>
              <a:rPr lang="fr" sz="1150">
                <a:solidFill>
                  <a:srgbClr val="FFFFFF"/>
                </a:solidFill>
                <a:latin typeface="Consolas"/>
                <a:ea typeface="Consolas"/>
                <a:cs typeface="Consolas"/>
                <a:sym typeface="Consolas"/>
              </a:rPr>
              <a:t>    └── month/</a:t>
            </a:r>
            <a:endParaRPr sz="1150">
              <a:solidFill>
                <a:srgbClr val="FFFFFF"/>
              </a:solidFill>
              <a:latin typeface="Consolas"/>
              <a:ea typeface="Consolas"/>
              <a:cs typeface="Consolas"/>
              <a:sym typeface="Consolas"/>
            </a:endParaRPr>
          </a:p>
          <a:p>
            <a:pPr indent="0" lvl="0" marL="0" rtl="0" algn="l">
              <a:lnSpc>
                <a:spcPct val="115000"/>
              </a:lnSpc>
              <a:spcBef>
                <a:spcPts val="0"/>
              </a:spcBef>
              <a:spcAft>
                <a:spcPts val="0"/>
              </a:spcAft>
              <a:buNone/>
            </a:pPr>
            <a:r>
              <a:rPr lang="fr" sz="1150">
                <a:solidFill>
                  <a:srgbClr val="FFFFFF"/>
                </a:solidFill>
                <a:latin typeface="Consolas"/>
                <a:ea typeface="Consolas"/>
                <a:cs typeface="Consolas"/>
                <a:sym typeface="Consolas"/>
              </a:rPr>
              <a:t>        └── day/</a:t>
            </a:r>
            <a:endParaRPr sz="1150">
              <a:solidFill>
                <a:srgbClr val="FFFFFF"/>
              </a:solidFill>
              <a:latin typeface="Consolas"/>
              <a:ea typeface="Consolas"/>
              <a:cs typeface="Consolas"/>
              <a:sym typeface="Consolas"/>
            </a:endParaRPr>
          </a:p>
          <a:p>
            <a:pPr indent="0" lvl="0" marL="0" rtl="0" algn="l">
              <a:lnSpc>
                <a:spcPct val="115000"/>
              </a:lnSpc>
              <a:spcBef>
                <a:spcPts val="0"/>
              </a:spcBef>
              <a:spcAft>
                <a:spcPts val="0"/>
              </a:spcAft>
              <a:buNone/>
            </a:pPr>
            <a:r>
              <a:rPr lang="fr" sz="1150">
                <a:solidFill>
                  <a:srgbClr val="FFFFFF"/>
                </a:solidFill>
                <a:latin typeface="Consolas"/>
                <a:ea typeface="Consolas"/>
                <a:cs typeface="Consolas"/>
                <a:sym typeface="Consolas"/>
              </a:rPr>
              <a:t>            └── hour-minute.csv</a:t>
            </a:r>
            <a:endParaRPr sz="1800"/>
          </a:p>
          <a:p>
            <a:pPr indent="0" lvl="0" marL="0" rtl="0" algn="l">
              <a:lnSpc>
                <a:spcPct val="115000"/>
              </a:lnSpc>
              <a:spcBef>
                <a:spcPts val="0"/>
              </a:spcBef>
              <a:spcAft>
                <a:spcPts val="0"/>
              </a:spcAft>
              <a:buNone/>
            </a:pPr>
            <a:r>
              <a:t/>
            </a:r>
            <a:endParaRPr sz="1150">
              <a:solidFill>
                <a:srgbClr val="FFFFFF"/>
              </a:solidFill>
              <a:latin typeface="Consolas"/>
              <a:ea typeface="Consolas"/>
              <a:cs typeface="Consolas"/>
              <a:sym typeface="Consolas"/>
            </a:endParaRPr>
          </a:p>
        </p:txBody>
      </p:sp>
      <p:sp>
        <p:nvSpPr>
          <p:cNvPr id="114" name="Google Shape;114;p19"/>
          <p:cNvSpPr txBox="1"/>
          <p:nvPr>
            <p:ph type="title"/>
          </p:nvPr>
        </p:nvSpPr>
        <p:spPr>
          <a:xfrm>
            <a:off x="3168000" y="961120"/>
            <a:ext cx="2808000" cy="75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fr" sz="2000">
                <a:solidFill>
                  <a:srgbClr val="F5DCA1"/>
                </a:solidFill>
              </a:rPr>
              <a:t>Glue Data Catalog &amp; Athena</a:t>
            </a:r>
            <a:endParaRPr sz="2000">
              <a:solidFill>
                <a:srgbClr val="F5DCA1"/>
              </a:solidFill>
            </a:endParaRPr>
          </a:p>
        </p:txBody>
      </p:sp>
      <p:sp>
        <p:nvSpPr>
          <p:cNvPr id="115" name="Google Shape;115;p19"/>
          <p:cNvSpPr txBox="1"/>
          <p:nvPr>
            <p:ph idx="1" type="body"/>
          </p:nvPr>
        </p:nvSpPr>
        <p:spPr>
          <a:xfrm>
            <a:off x="3168000" y="1795125"/>
            <a:ext cx="2856300" cy="3179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fr" sz="1450">
                <a:solidFill>
                  <a:schemeClr val="dk1"/>
                </a:solidFill>
                <a:latin typeface="Oswald"/>
                <a:ea typeface="Oswald"/>
                <a:cs typeface="Oswald"/>
                <a:sym typeface="Oswald"/>
              </a:rPr>
              <a:t>Terraform defines the </a:t>
            </a:r>
            <a:r>
              <a:rPr lang="fr" sz="1450">
                <a:solidFill>
                  <a:srgbClr val="F5DCA1"/>
                </a:solidFill>
                <a:latin typeface="Oswald"/>
                <a:ea typeface="Oswald"/>
                <a:cs typeface="Oswald"/>
                <a:sym typeface="Oswald"/>
              </a:rPr>
              <a:t>table structures</a:t>
            </a:r>
            <a:r>
              <a:rPr lang="fr" sz="1450">
                <a:solidFill>
                  <a:schemeClr val="dk1"/>
                </a:solidFill>
                <a:latin typeface="Oswald"/>
                <a:ea typeface="Oswald"/>
                <a:cs typeface="Oswald"/>
                <a:sym typeface="Oswald"/>
              </a:rPr>
              <a:t>, </a:t>
            </a:r>
            <a:r>
              <a:rPr lang="fr" sz="1450">
                <a:solidFill>
                  <a:srgbClr val="F5DCA1"/>
                </a:solidFill>
                <a:latin typeface="Oswald"/>
                <a:ea typeface="Oswald"/>
                <a:cs typeface="Oswald"/>
                <a:sym typeface="Oswald"/>
              </a:rPr>
              <a:t>S3 storage paths</a:t>
            </a:r>
            <a:r>
              <a:rPr lang="fr" sz="1450">
                <a:solidFill>
                  <a:schemeClr val="dk1"/>
                </a:solidFill>
                <a:latin typeface="Oswald"/>
                <a:ea typeface="Oswald"/>
                <a:cs typeface="Oswald"/>
                <a:sym typeface="Oswald"/>
              </a:rPr>
              <a:t>, and </a:t>
            </a:r>
            <a:r>
              <a:rPr lang="fr" sz="1450">
                <a:solidFill>
                  <a:srgbClr val="F5DCA1"/>
                </a:solidFill>
                <a:latin typeface="Oswald"/>
                <a:ea typeface="Oswald"/>
                <a:cs typeface="Oswald"/>
                <a:sym typeface="Oswald"/>
              </a:rPr>
              <a:t>date-based partitioning</a:t>
            </a:r>
            <a:r>
              <a:rPr lang="fr" sz="1450">
                <a:solidFill>
                  <a:schemeClr val="dk1"/>
                </a:solidFill>
                <a:latin typeface="Oswald"/>
                <a:ea typeface="Oswald"/>
                <a:cs typeface="Oswald"/>
                <a:sym typeface="Oswald"/>
              </a:rPr>
              <a:t>.</a:t>
            </a:r>
            <a:br>
              <a:rPr lang="fr" sz="1450">
                <a:solidFill>
                  <a:schemeClr val="dk1"/>
                </a:solidFill>
                <a:latin typeface="Oswald"/>
                <a:ea typeface="Oswald"/>
                <a:cs typeface="Oswald"/>
                <a:sym typeface="Oswald"/>
              </a:rPr>
            </a:br>
            <a:r>
              <a:rPr lang="fr" sz="1450">
                <a:solidFill>
                  <a:schemeClr val="dk1"/>
                </a:solidFill>
                <a:latin typeface="Oswald"/>
                <a:ea typeface="Oswald"/>
                <a:cs typeface="Oswald"/>
                <a:sym typeface="Oswald"/>
              </a:rPr>
              <a:t>AWS Glue lives as the metadata index, storing a "map" that explains exactly how the raw CSV files are structured.</a:t>
            </a:r>
            <a:br>
              <a:rPr lang="fr" sz="1450">
                <a:solidFill>
                  <a:schemeClr val="dk1"/>
                </a:solidFill>
                <a:latin typeface="Oswald"/>
                <a:ea typeface="Oswald"/>
                <a:cs typeface="Oswald"/>
                <a:sym typeface="Oswald"/>
              </a:rPr>
            </a:br>
            <a:r>
              <a:rPr lang="fr" sz="1450">
                <a:solidFill>
                  <a:schemeClr val="dk1"/>
                </a:solidFill>
                <a:latin typeface="Oswald"/>
                <a:ea typeface="Oswald"/>
                <a:cs typeface="Oswald"/>
                <a:sym typeface="Oswald"/>
              </a:rPr>
              <a:t>Finally, Amazon Athena uses Glue’s map to locate and understand the files, allowing to </a:t>
            </a:r>
            <a:r>
              <a:rPr lang="fr" sz="1450">
                <a:solidFill>
                  <a:srgbClr val="F5DCA1"/>
                </a:solidFill>
                <a:latin typeface="Oswald"/>
                <a:ea typeface="Oswald"/>
                <a:cs typeface="Oswald"/>
                <a:sym typeface="Oswald"/>
              </a:rPr>
              <a:t>run standard SQL queries directly against the data stored in S3</a:t>
            </a:r>
            <a:r>
              <a:rPr lang="fr" sz="1450">
                <a:solidFill>
                  <a:schemeClr val="dk1"/>
                </a:solidFill>
                <a:latin typeface="Oswald"/>
                <a:ea typeface="Oswald"/>
                <a:cs typeface="Oswald"/>
                <a:sym typeface="Oswald"/>
              </a:rPr>
              <a:t>.</a:t>
            </a:r>
            <a:endParaRPr sz="1450">
              <a:solidFill>
                <a:schemeClr val="dk1"/>
              </a:solidFill>
              <a:latin typeface="Oswald"/>
              <a:ea typeface="Oswald"/>
              <a:cs typeface="Oswald"/>
              <a:sym typeface="Oswald"/>
            </a:endParaRPr>
          </a:p>
          <a:p>
            <a:pPr indent="0" lvl="0" marL="0" rtl="0" algn="l">
              <a:spcBef>
                <a:spcPts val="1200"/>
              </a:spcBef>
              <a:spcAft>
                <a:spcPts val="1200"/>
              </a:spcAft>
              <a:buClr>
                <a:srgbClr val="000000"/>
              </a:buClr>
              <a:buSzPts val="853"/>
              <a:buFont typeface="Arial"/>
              <a:buNone/>
            </a:pPr>
            <a:r>
              <a:t/>
            </a:r>
            <a:endParaRPr sz="1450">
              <a:solidFill>
                <a:schemeClr val="dk1"/>
              </a:solidFill>
              <a:latin typeface="Oswald"/>
              <a:ea typeface="Oswald"/>
              <a:cs typeface="Oswald"/>
              <a:sym typeface="Oswald"/>
            </a:endParaRPr>
          </a:p>
        </p:txBody>
      </p:sp>
      <p:sp>
        <p:nvSpPr>
          <p:cNvPr id="116" name="Google Shape;116;p19"/>
          <p:cNvSpPr txBox="1"/>
          <p:nvPr>
            <p:ph type="title"/>
          </p:nvPr>
        </p:nvSpPr>
        <p:spPr>
          <a:xfrm>
            <a:off x="6024300" y="961120"/>
            <a:ext cx="2808000" cy="7557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fr" sz="2000">
                <a:solidFill>
                  <a:srgbClr val="F5DCA1"/>
                </a:solidFill>
              </a:rPr>
              <a:t>Incremental Processing: </a:t>
            </a:r>
            <a:r>
              <a:rPr lang="fr" sz="2000">
                <a:solidFill>
                  <a:srgbClr val="F5DCA1"/>
                </a:solidFill>
              </a:rPr>
              <a:t>dbt</a:t>
            </a:r>
            <a:endParaRPr sz="2000">
              <a:solidFill>
                <a:srgbClr val="F5DCA1"/>
              </a:solidFill>
            </a:endParaRPr>
          </a:p>
        </p:txBody>
      </p:sp>
      <p:sp>
        <p:nvSpPr>
          <p:cNvPr id="117" name="Google Shape;117;p19"/>
          <p:cNvSpPr txBox="1"/>
          <p:nvPr>
            <p:ph idx="1" type="body"/>
          </p:nvPr>
        </p:nvSpPr>
        <p:spPr>
          <a:xfrm>
            <a:off x="6024300" y="1795120"/>
            <a:ext cx="2808000" cy="3179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fr" sz="1450">
                <a:solidFill>
                  <a:srgbClr val="FFFFFF"/>
                </a:solidFill>
                <a:latin typeface="Oswald"/>
                <a:ea typeface="Oswald"/>
                <a:cs typeface="Oswald"/>
                <a:sym typeface="Oswald"/>
              </a:rPr>
              <a:t>dbt uses Athena as its </a:t>
            </a:r>
            <a:r>
              <a:rPr lang="fr" sz="1450">
                <a:solidFill>
                  <a:srgbClr val="F5DCA1"/>
                </a:solidFill>
                <a:latin typeface="Oswald"/>
                <a:ea typeface="Oswald"/>
                <a:cs typeface="Oswald"/>
                <a:sym typeface="Oswald"/>
              </a:rPr>
              <a:t>SQL execution engine</a:t>
            </a:r>
            <a:r>
              <a:rPr lang="fr" sz="1450">
                <a:solidFill>
                  <a:srgbClr val="FFFFFF"/>
                </a:solidFill>
                <a:latin typeface="Oswald"/>
                <a:ea typeface="Oswald"/>
                <a:cs typeface="Oswald"/>
                <a:sym typeface="Oswald"/>
              </a:rPr>
              <a:t> to transform raw ingestion tables into machine-learning-ready Parquet datasets.</a:t>
            </a:r>
            <a:br>
              <a:rPr lang="fr" sz="1450">
                <a:solidFill>
                  <a:srgbClr val="FFFFFF"/>
                </a:solidFill>
                <a:latin typeface="Oswald"/>
                <a:ea typeface="Oswald"/>
                <a:cs typeface="Oswald"/>
                <a:sym typeface="Oswald"/>
              </a:rPr>
            </a:br>
            <a:r>
              <a:rPr lang="fr" sz="1450">
                <a:solidFill>
                  <a:srgbClr val="FFFFFF"/>
                </a:solidFill>
                <a:latin typeface="Oswald"/>
                <a:ea typeface="Oswald"/>
                <a:cs typeface="Oswald"/>
                <a:sym typeface="Oswald"/>
              </a:rPr>
              <a:t>The pipeline runs incrementally and writes partitioned feature tables back into S3 for downstream machine learning training.</a:t>
            </a:r>
            <a:endParaRPr sz="1450">
              <a:solidFill>
                <a:srgbClr val="FFFFFF"/>
              </a:solidFill>
              <a:latin typeface="Oswald"/>
              <a:ea typeface="Oswald"/>
              <a:cs typeface="Oswald"/>
              <a:sym typeface="Oswald"/>
            </a:endParaRPr>
          </a:p>
        </p:txBody>
      </p:sp>
      <p:pic>
        <p:nvPicPr>
          <p:cNvPr id="118" name="Google Shape;118;p19"/>
          <p:cNvPicPr preferRelativeResize="0"/>
          <p:nvPr/>
        </p:nvPicPr>
        <p:blipFill>
          <a:blip r:embed="rId3">
            <a:alphaModFix/>
          </a:blip>
          <a:stretch>
            <a:fillRect/>
          </a:stretch>
        </p:blipFill>
        <p:spPr>
          <a:xfrm>
            <a:off x="1429350" y="543483"/>
            <a:ext cx="572700" cy="572700"/>
          </a:xfrm>
          <a:prstGeom prst="rect">
            <a:avLst/>
          </a:prstGeom>
          <a:noFill/>
          <a:ln>
            <a:noFill/>
          </a:ln>
        </p:spPr>
      </p:pic>
      <p:grpSp>
        <p:nvGrpSpPr>
          <p:cNvPr id="119" name="Google Shape;119;p19"/>
          <p:cNvGrpSpPr/>
          <p:nvPr/>
        </p:nvGrpSpPr>
        <p:grpSpPr>
          <a:xfrm>
            <a:off x="3768513" y="543483"/>
            <a:ext cx="1606975" cy="572700"/>
            <a:chOff x="3581275" y="388425"/>
            <a:chExt cx="1606975" cy="572700"/>
          </a:xfrm>
        </p:grpSpPr>
        <p:pic>
          <p:nvPicPr>
            <p:cNvPr id="120" name="Google Shape;120;p19"/>
            <p:cNvPicPr preferRelativeResize="0"/>
            <p:nvPr/>
          </p:nvPicPr>
          <p:blipFill>
            <a:blip r:embed="rId4">
              <a:alphaModFix/>
            </a:blip>
            <a:stretch>
              <a:fillRect/>
            </a:stretch>
          </p:blipFill>
          <p:spPr>
            <a:xfrm>
              <a:off x="3581275" y="388425"/>
              <a:ext cx="572700" cy="572700"/>
            </a:xfrm>
            <a:prstGeom prst="rect">
              <a:avLst/>
            </a:prstGeom>
            <a:noFill/>
            <a:ln>
              <a:noFill/>
            </a:ln>
          </p:spPr>
        </p:pic>
        <p:pic>
          <p:nvPicPr>
            <p:cNvPr id="121" name="Google Shape;121;p19"/>
            <p:cNvPicPr preferRelativeResize="0"/>
            <p:nvPr/>
          </p:nvPicPr>
          <p:blipFill>
            <a:blip r:embed="rId5">
              <a:alphaModFix/>
            </a:blip>
            <a:stretch>
              <a:fillRect/>
            </a:stretch>
          </p:blipFill>
          <p:spPr>
            <a:xfrm>
              <a:off x="4615550" y="388425"/>
              <a:ext cx="572700" cy="572700"/>
            </a:xfrm>
            <a:prstGeom prst="rect">
              <a:avLst/>
            </a:prstGeom>
            <a:noFill/>
            <a:ln>
              <a:noFill/>
            </a:ln>
          </p:spPr>
        </p:pic>
      </p:grpSp>
      <p:pic>
        <p:nvPicPr>
          <p:cNvPr id="122" name="Google Shape;122;p19"/>
          <p:cNvPicPr preferRelativeResize="0"/>
          <p:nvPr/>
        </p:nvPicPr>
        <p:blipFill>
          <a:blip r:embed="rId6">
            <a:alphaModFix/>
          </a:blip>
          <a:stretch>
            <a:fillRect/>
          </a:stretch>
        </p:blipFill>
        <p:spPr>
          <a:xfrm>
            <a:off x="7165975" y="567508"/>
            <a:ext cx="524650" cy="524650"/>
          </a:xfrm>
          <a:prstGeom prst="rect">
            <a:avLst/>
          </a:prstGeom>
          <a:noFill/>
          <a:ln>
            <a:noFill/>
          </a:ln>
        </p:spPr>
      </p:pic>
      <p:pic>
        <p:nvPicPr>
          <p:cNvPr id="123" name="Google Shape;123;p19" title="AK.png"/>
          <p:cNvPicPr preferRelativeResize="0"/>
          <p:nvPr/>
        </p:nvPicPr>
        <p:blipFill rotWithShape="1">
          <a:blip r:embed="rId7">
            <a:alphaModFix/>
          </a:blip>
          <a:srcRect b="0" l="0" r="0" t="0"/>
          <a:stretch/>
        </p:blipFill>
        <p:spPr>
          <a:xfrm>
            <a:off x="8538151" y="225401"/>
            <a:ext cx="370350" cy="3703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0"/>
          <p:cNvSpPr txBox="1"/>
          <p:nvPr>
            <p:ph idx="1" type="body"/>
          </p:nvPr>
        </p:nvSpPr>
        <p:spPr>
          <a:xfrm>
            <a:off x="311700" y="1152475"/>
            <a:ext cx="7259400" cy="3772800"/>
          </a:xfrm>
          <a:prstGeom prst="rect">
            <a:avLst/>
          </a:prstGeom>
        </p:spPr>
        <p:txBody>
          <a:bodyPr anchorCtr="0" anchor="t" bIns="91425" lIns="91425" spcFirstLastPara="1" rIns="91425" wrap="square" tIns="91425">
            <a:noAutofit/>
          </a:bodyPr>
          <a:lstStyle/>
          <a:p>
            <a:pPr indent="-334169" lvl="0" marL="457200" rtl="0" algn="l">
              <a:spcBef>
                <a:spcPts val="0"/>
              </a:spcBef>
              <a:spcAft>
                <a:spcPts val="0"/>
              </a:spcAft>
              <a:buClr>
                <a:schemeClr val="dk1"/>
              </a:buClr>
              <a:buSzPts val="1663"/>
              <a:buFont typeface="Oswald"/>
              <a:buChar char="●"/>
            </a:pPr>
            <a:r>
              <a:rPr lang="fr" sz="1663">
                <a:solidFill>
                  <a:schemeClr val="dk1"/>
                </a:solidFill>
                <a:latin typeface="Oswald"/>
                <a:ea typeface="Oswald"/>
                <a:cs typeface="Oswald"/>
                <a:sym typeface="Oswald"/>
              </a:rPr>
              <a:t>By analyzing historical station data across different times and locations, the system </a:t>
            </a:r>
            <a:r>
              <a:rPr lang="fr" sz="1663">
                <a:solidFill>
                  <a:srgbClr val="F5DCA1"/>
                </a:solidFill>
                <a:latin typeface="Oswald"/>
                <a:ea typeface="Oswald"/>
                <a:cs typeface="Oswald"/>
                <a:sym typeface="Oswald"/>
              </a:rPr>
              <a:t>learns recurring usage patterns</a:t>
            </a:r>
            <a:r>
              <a:rPr lang="fr" sz="1663">
                <a:solidFill>
                  <a:schemeClr val="dk1"/>
                </a:solidFill>
                <a:latin typeface="Oswald"/>
                <a:ea typeface="Oswald"/>
                <a:cs typeface="Oswald"/>
                <a:sym typeface="Oswald"/>
              </a:rPr>
              <a:t> to accurately predict Paris Vélib bike availability throughout the day.</a:t>
            </a:r>
            <a:br>
              <a:rPr lang="fr" sz="1663">
                <a:solidFill>
                  <a:schemeClr val="dk1"/>
                </a:solidFill>
                <a:latin typeface="Oswald"/>
                <a:ea typeface="Oswald"/>
                <a:cs typeface="Oswald"/>
                <a:sym typeface="Oswald"/>
              </a:rPr>
            </a:br>
            <a:endParaRPr sz="1663">
              <a:solidFill>
                <a:schemeClr val="dk1"/>
              </a:solidFill>
              <a:latin typeface="Oswald"/>
              <a:ea typeface="Oswald"/>
              <a:cs typeface="Oswald"/>
              <a:sym typeface="Oswald"/>
            </a:endParaRPr>
          </a:p>
          <a:p>
            <a:pPr indent="-334169" lvl="0" marL="457200" rtl="0" algn="l">
              <a:spcBef>
                <a:spcPts val="0"/>
              </a:spcBef>
              <a:spcAft>
                <a:spcPts val="0"/>
              </a:spcAft>
              <a:buClr>
                <a:schemeClr val="dk1"/>
              </a:buClr>
              <a:buSzPts val="1663"/>
              <a:buFont typeface="Oswald"/>
              <a:buChar char="●"/>
            </a:pPr>
            <a:r>
              <a:rPr lang="fr" sz="1663">
                <a:solidFill>
                  <a:schemeClr val="dk1"/>
                </a:solidFill>
                <a:latin typeface="Oswald"/>
                <a:ea typeface="Oswald"/>
                <a:cs typeface="Oswald"/>
                <a:sym typeface="Oswald"/>
              </a:rPr>
              <a:t>Rather than predicting an exact number of bikes, the model classifies each station into </a:t>
            </a:r>
            <a:r>
              <a:rPr lang="fr" sz="1663">
                <a:solidFill>
                  <a:srgbClr val="F5DCA1"/>
                </a:solidFill>
                <a:latin typeface="Oswald"/>
                <a:ea typeface="Oswald"/>
                <a:cs typeface="Oswald"/>
                <a:sym typeface="Oswald"/>
              </a:rPr>
              <a:t>availability states</a:t>
            </a:r>
            <a:r>
              <a:rPr lang="fr" sz="1663">
                <a:solidFill>
                  <a:schemeClr val="dk1"/>
                </a:solidFill>
                <a:latin typeface="Oswald"/>
                <a:ea typeface="Oswald"/>
                <a:cs typeface="Oswald"/>
                <a:sym typeface="Oswald"/>
              </a:rPr>
              <a:t> — such as "empty", "medium", or "full" — at five time horizons: </a:t>
            </a:r>
            <a:r>
              <a:rPr lang="fr" sz="1663">
                <a:solidFill>
                  <a:srgbClr val="F5DCA1"/>
                </a:solidFill>
                <a:latin typeface="Oswald"/>
                <a:ea typeface="Oswald"/>
                <a:cs typeface="Oswald"/>
                <a:sym typeface="Oswald"/>
              </a:rPr>
              <a:t>+15</a:t>
            </a:r>
            <a:r>
              <a:rPr lang="fr" sz="1663">
                <a:solidFill>
                  <a:schemeClr val="dk1"/>
                </a:solidFill>
                <a:latin typeface="Oswald"/>
                <a:ea typeface="Oswald"/>
                <a:cs typeface="Oswald"/>
                <a:sym typeface="Oswald"/>
              </a:rPr>
              <a:t>,</a:t>
            </a:r>
            <a:r>
              <a:rPr lang="fr" sz="1663">
                <a:solidFill>
                  <a:srgbClr val="F5DCA1"/>
                </a:solidFill>
                <a:latin typeface="Oswald"/>
                <a:ea typeface="Oswald"/>
                <a:cs typeface="Oswald"/>
                <a:sym typeface="Oswald"/>
              </a:rPr>
              <a:t> +30</a:t>
            </a:r>
            <a:r>
              <a:rPr lang="fr" sz="1663">
                <a:solidFill>
                  <a:schemeClr val="dk1"/>
                </a:solidFill>
                <a:latin typeface="Oswald"/>
                <a:ea typeface="Oswald"/>
                <a:cs typeface="Oswald"/>
                <a:sym typeface="Oswald"/>
              </a:rPr>
              <a:t>,</a:t>
            </a:r>
            <a:r>
              <a:rPr lang="fr" sz="1663">
                <a:solidFill>
                  <a:srgbClr val="F5DCA1"/>
                </a:solidFill>
                <a:latin typeface="Oswald"/>
                <a:ea typeface="Oswald"/>
                <a:cs typeface="Oswald"/>
                <a:sym typeface="Oswald"/>
              </a:rPr>
              <a:t> +45</a:t>
            </a:r>
            <a:r>
              <a:rPr lang="fr" sz="1663">
                <a:solidFill>
                  <a:schemeClr val="dk1"/>
                </a:solidFill>
                <a:latin typeface="Oswald"/>
                <a:ea typeface="Oswald"/>
                <a:cs typeface="Oswald"/>
                <a:sym typeface="Oswald"/>
              </a:rPr>
              <a:t>, </a:t>
            </a:r>
            <a:r>
              <a:rPr lang="fr" sz="1663">
                <a:solidFill>
                  <a:srgbClr val="F5DCA1"/>
                </a:solidFill>
                <a:latin typeface="Oswald"/>
                <a:ea typeface="Oswald"/>
                <a:cs typeface="Oswald"/>
                <a:sym typeface="Oswald"/>
              </a:rPr>
              <a:t>+60</a:t>
            </a:r>
            <a:r>
              <a:rPr lang="fr" sz="1663">
                <a:solidFill>
                  <a:schemeClr val="dk1"/>
                </a:solidFill>
                <a:latin typeface="Oswald"/>
                <a:ea typeface="Oswald"/>
                <a:cs typeface="Oswald"/>
                <a:sym typeface="Oswald"/>
              </a:rPr>
              <a:t>, and </a:t>
            </a:r>
            <a:r>
              <a:rPr lang="fr" sz="1663">
                <a:solidFill>
                  <a:srgbClr val="F5DCA1"/>
                </a:solidFill>
                <a:latin typeface="Oswald"/>
                <a:ea typeface="Oswald"/>
                <a:cs typeface="Oswald"/>
                <a:sym typeface="Oswald"/>
              </a:rPr>
              <a:t>+120 minutes</a:t>
            </a:r>
            <a:r>
              <a:rPr lang="fr" sz="1663">
                <a:solidFill>
                  <a:schemeClr val="dk1"/>
                </a:solidFill>
                <a:latin typeface="Oswald"/>
                <a:ea typeface="Oswald"/>
                <a:cs typeface="Oswald"/>
                <a:sym typeface="Oswald"/>
              </a:rPr>
              <a:t>.</a:t>
            </a:r>
            <a:br>
              <a:rPr lang="fr" sz="1663">
                <a:solidFill>
                  <a:schemeClr val="dk1"/>
                </a:solidFill>
                <a:latin typeface="Oswald"/>
                <a:ea typeface="Oswald"/>
                <a:cs typeface="Oswald"/>
                <a:sym typeface="Oswald"/>
              </a:rPr>
            </a:br>
            <a:endParaRPr sz="1663">
              <a:solidFill>
                <a:schemeClr val="dk1"/>
              </a:solidFill>
              <a:latin typeface="Oswald"/>
              <a:ea typeface="Oswald"/>
              <a:cs typeface="Oswald"/>
              <a:sym typeface="Oswald"/>
            </a:endParaRPr>
          </a:p>
          <a:p>
            <a:pPr indent="-334169" lvl="0" marL="457200" rtl="0" algn="l">
              <a:spcBef>
                <a:spcPts val="0"/>
              </a:spcBef>
              <a:spcAft>
                <a:spcPts val="0"/>
              </a:spcAft>
              <a:buClr>
                <a:schemeClr val="dk1"/>
              </a:buClr>
              <a:buSzPts val="1663"/>
              <a:buFont typeface="Oswald"/>
              <a:buChar char="●"/>
            </a:pPr>
            <a:r>
              <a:rPr lang="fr" sz="1663">
                <a:solidFill>
                  <a:schemeClr val="dk1"/>
                </a:solidFill>
                <a:latin typeface="Oswald"/>
                <a:ea typeface="Oswald"/>
                <a:cs typeface="Oswald"/>
                <a:sym typeface="Oswald"/>
              </a:rPr>
              <a:t>Given a station, it can then predict what state it will be in at each horizon, so users don't show up to an empty or full station.</a:t>
            </a:r>
            <a:endParaRPr sz="1663">
              <a:solidFill>
                <a:schemeClr val="dk1"/>
              </a:solidFill>
              <a:latin typeface="Oswald"/>
              <a:ea typeface="Oswald"/>
              <a:cs typeface="Oswald"/>
              <a:sym typeface="Oswald"/>
            </a:endParaRPr>
          </a:p>
        </p:txBody>
      </p:sp>
      <p:sp>
        <p:nvSpPr>
          <p:cNvPr id="129" name="Google Shape;129;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Machine Learning: </a:t>
            </a:r>
            <a:r>
              <a:rPr lang="fr">
                <a:solidFill>
                  <a:srgbClr val="F5DCA1"/>
                </a:solidFill>
              </a:rPr>
              <a:t>Predicting</a:t>
            </a:r>
            <a:r>
              <a:rPr lang="fr">
                <a:solidFill>
                  <a:srgbClr val="F5DCA1"/>
                </a:solidFill>
              </a:rPr>
              <a:t> Bike </a:t>
            </a:r>
            <a:r>
              <a:rPr lang="fr">
                <a:solidFill>
                  <a:srgbClr val="F5DCA1"/>
                </a:solidFill>
              </a:rPr>
              <a:t>Availability</a:t>
            </a:r>
            <a:endParaRPr>
              <a:solidFill>
                <a:srgbClr val="F5DCA1"/>
              </a:solidFill>
            </a:endParaRPr>
          </a:p>
        </p:txBody>
      </p:sp>
      <p:pic>
        <p:nvPicPr>
          <p:cNvPr id="130" name="Google Shape;130;p20" title="kindpng_791473.png"/>
          <p:cNvPicPr preferRelativeResize="0"/>
          <p:nvPr/>
        </p:nvPicPr>
        <p:blipFill>
          <a:blip r:embed="rId3">
            <a:alphaModFix/>
          </a:blip>
          <a:stretch>
            <a:fillRect/>
          </a:stretch>
        </p:blipFill>
        <p:spPr>
          <a:xfrm>
            <a:off x="7869800" y="2551112"/>
            <a:ext cx="962501" cy="975525"/>
          </a:xfrm>
          <a:prstGeom prst="rect">
            <a:avLst/>
          </a:prstGeom>
          <a:noFill/>
          <a:ln>
            <a:noFill/>
          </a:ln>
        </p:spPr>
      </p:pic>
      <p:pic>
        <p:nvPicPr>
          <p:cNvPr id="131" name="Google Shape;131;p20" title="AK.png"/>
          <p:cNvPicPr preferRelativeResize="0"/>
          <p:nvPr/>
        </p:nvPicPr>
        <p:blipFill rotWithShape="1">
          <a:blip r:embed="rId4">
            <a:alphaModFix/>
          </a:blip>
          <a:srcRect b="0" l="0" r="0" t="0"/>
          <a:stretch/>
        </p:blipFill>
        <p:spPr>
          <a:xfrm>
            <a:off x="8538151" y="225401"/>
            <a:ext cx="370350" cy="3703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Training Pipeline</a:t>
            </a:r>
            <a:endParaRPr>
              <a:solidFill>
                <a:srgbClr val="F5DCA1"/>
              </a:solidFill>
            </a:endParaRPr>
          </a:p>
        </p:txBody>
      </p:sp>
      <p:pic>
        <p:nvPicPr>
          <p:cNvPr id="137" name="Google Shape;137;p21" title="AK.png"/>
          <p:cNvPicPr preferRelativeResize="0"/>
          <p:nvPr/>
        </p:nvPicPr>
        <p:blipFill rotWithShape="1">
          <a:blip r:embed="rId3">
            <a:alphaModFix/>
          </a:blip>
          <a:srcRect b="0" l="0" r="0" t="0"/>
          <a:stretch/>
        </p:blipFill>
        <p:spPr>
          <a:xfrm>
            <a:off x="8538151" y="225401"/>
            <a:ext cx="370350" cy="370350"/>
          </a:xfrm>
          <a:prstGeom prst="rect">
            <a:avLst/>
          </a:prstGeom>
          <a:noFill/>
          <a:ln>
            <a:noFill/>
          </a:ln>
        </p:spPr>
      </p:pic>
      <p:sp>
        <p:nvSpPr>
          <p:cNvPr id="138" name="Google Shape;138;p21"/>
          <p:cNvSpPr txBox="1"/>
          <p:nvPr/>
        </p:nvSpPr>
        <p:spPr>
          <a:xfrm>
            <a:off x="192100" y="3808275"/>
            <a:ext cx="8839200" cy="102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lang="fr" sz="1663">
                <a:solidFill>
                  <a:schemeClr val="dk1"/>
                </a:solidFill>
                <a:latin typeface="Oswald"/>
                <a:ea typeface="Oswald"/>
                <a:cs typeface="Oswald"/>
                <a:sym typeface="Oswald"/>
              </a:rPr>
              <a:t>To maintain high accuracy, the automated pipeline retrains the model </a:t>
            </a:r>
            <a:r>
              <a:rPr lang="fr" sz="1663">
                <a:solidFill>
                  <a:srgbClr val="F5DCA1"/>
                </a:solidFill>
                <a:latin typeface="Oswald"/>
                <a:ea typeface="Oswald"/>
                <a:cs typeface="Oswald"/>
                <a:sym typeface="Oswald"/>
              </a:rPr>
              <a:t>weekly on fresh data</a:t>
            </a:r>
            <a:r>
              <a:rPr lang="fr" sz="1663">
                <a:solidFill>
                  <a:schemeClr val="dk1"/>
                </a:solidFill>
                <a:latin typeface="Oswald"/>
                <a:ea typeface="Oswald"/>
                <a:cs typeface="Oswald"/>
                <a:sym typeface="Oswald"/>
              </a:rPr>
              <a:t>. Each new model is evaluated against recent real-world observations, ensuring that </a:t>
            </a:r>
            <a:r>
              <a:rPr lang="fr" sz="1663">
                <a:solidFill>
                  <a:srgbClr val="F5DCA1"/>
                </a:solidFill>
                <a:latin typeface="Oswald"/>
                <a:ea typeface="Oswald"/>
                <a:cs typeface="Oswald"/>
                <a:sym typeface="Oswald"/>
              </a:rPr>
              <a:t>only a better-performing challenger replaces the current production model</a:t>
            </a:r>
            <a:r>
              <a:rPr lang="fr" sz="1663">
                <a:solidFill>
                  <a:schemeClr val="dk1"/>
                </a:solidFill>
                <a:latin typeface="Oswald"/>
                <a:ea typeface="Oswald"/>
                <a:cs typeface="Oswald"/>
                <a:sym typeface="Oswald"/>
              </a:rPr>
              <a:t>.</a:t>
            </a:r>
            <a:endParaRPr sz="1663">
              <a:solidFill>
                <a:schemeClr val="dk1"/>
              </a:solidFill>
              <a:latin typeface="Oswald"/>
              <a:ea typeface="Oswald"/>
              <a:cs typeface="Oswald"/>
              <a:sym typeface="Oswald"/>
            </a:endParaRPr>
          </a:p>
        </p:txBody>
      </p:sp>
      <p:pic>
        <p:nvPicPr>
          <p:cNvPr id="139" name="Google Shape;139;p21"/>
          <p:cNvPicPr preferRelativeResize="0"/>
          <p:nvPr/>
        </p:nvPicPr>
        <p:blipFill>
          <a:blip r:embed="rId4">
            <a:alphaModFix/>
          </a:blip>
          <a:stretch>
            <a:fillRect/>
          </a:stretch>
        </p:blipFill>
        <p:spPr>
          <a:xfrm>
            <a:off x="192100" y="1202493"/>
            <a:ext cx="8716401" cy="2298282"/>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2"/>
          <p:cNvSpPr txBox="1"/>
          <p:nvPr>
            <p:ph idx="1" type="body"/>
          </p:nvPr>
        </p:nvSpPr>
        <p:spPr>
          <a:xfrm>
            <a:off x="311700" y="1152475"/>
            <a:ext cx="8596800" cy="3741600"/>
          </a:xfrm>
          <a:prstGeom prst="rect">
            <a:avLst/>
          </a:prstGeom>
        </p:spPr>
        <p:txBody>
          <a:bodyPr anchorCtr="0" anchor="t" bIns="91425" lIns="91425" spcFirstLastPara="1" rIns="91425" wrap="square" tIns="91425">
            <a:normAutofit lnSpcReduction="10000"/>
          </a:bodyPr>
          <a:lstStyle/>
          <a:p>
            <a:pPr indent="-336550" lvl="0" marL="457200" rtl="0" algn="l">
              <a:lnSpc>
                <a:spcPct val="115000"/>
              </a:lnSpc>
              <a:spcBef>
                <a:spcPts val="1200"/>
              </a:spcBef>
              <a:spcAft>
                <a:spcPts val="0"/>
              </a:spcAft>
              <a:buClr>
                <a:schemeClr val="dk1"/>
              </a:buClr>
              <a:buSzPts val="1700"/>
              <a:buFont typeface="Oswald"/>
              <a:buChar char="●"/>
            </a:pPr>
            <a:r>
              <a:rPr lang="fr" sz="1700">
                <a:solidFill>
                  <a:schemeClr val="dk1"/>
                </a:solidFill>
                <a:latin typeface="Oswald"/>
                <a:ea typeface="Oswald"/>
                <a:cs typeface="Oswald"/>
                <a:sym typeface="Oswald"/>
              </a:rPr>
              <a:t>Every week, the training pipeline starts by building the dataset that will be used to train a new model.</a:t>
            </a:r>
            <a:endParaRPr sz="1700">
              <a:solidFill>
                <a:schemeClr val="dk1"/>
              </a:solidFill>
              <a:latin typeface="Oswald"/>
              <a:ea typeface="Oswald"/>
              <a:cs typeface="Oswald"/>
              <a:sym typeface="Oswald"/>
            </a:endParaRPr>
          </a:p>
          <a:p>
            <a:pPr indent="-336550" lvl="0" marL="457200" rtl="0" algn="l">
              <a:lnSpc>
                <a:spcPct val="115000"/>
              </a:lnSpc>
              <a:spcBef>
                <a:spcPts val="0"/>
              </a:spcBef>
              <a:spcAft>
                <a:spcPts val="0"/>
              </a:spcAft>
              <a:buClr>
                <a:schemeClr val="dk1"/>
              </a:buClr>
              <a:buSzPts val="1700"/>
              <a:buFont typeface="Oswald"/>
              <a:buChar char="●"/>
            </a:pPr>
            <a:r>
              <a:rPr lang="fr" sz="1700">
                <a:solidFill>
                  <a:schemeClr val="dk1"/>
                </a:solidFill>
                <a:latin typeface="Oswald"/>
                <a:ea typeface="Oswald"/>
                <a:cs typeface="Oswald"/>
                <a:sym typeface="Oswald"/>
              </a:rPr>
              <a:t>The training dataset covers a </a:t>
            </a:r>
            <a:r>
              <a:rPr lang="fr" sz="1700">
                <a:solidFill>
                  <a:srgbClr val="F5DCA1"/>
                </a:solidFill>
                <a:latin typeface="Oswald"/>
                <a:ea typeface="Oswald"/>
                <a:cs typeface="Oswald"/>
                <a:sym typeface="Oswald"/>
              </a:rPr>
              <a:t>5-week period</a:t>
            </a:r>
            <a:r>
              <a:rPr lang="fr" sz="1700">
                <a:solidFill>
                  <a:schemeClr val="dk1"/>
                </a:solidFill>
                <a:latin typeface="Oswald"/>
                <a:ea typeface="Oswald"/>
                <a:cs typeface="Oswald"/>
                <a:sym typeface="Oswald"/>
              </a:rPr>
              <a:t>, corresponding to 35 days = 840 hours = 3,360 15-minute intervals.</a:t>
            </a:r>
            <a:endParaRPr sz="1700">
              <a:solidFill>
                <a:schemeClr val="dk1"/>
              </a:solidFill>
              <a:latin typeface="Oswald"/>
              <a:ea typeface="Oswald"/>
              <a:cs typeface="Oswald"/>
              <a:sym typeface="Oswald"/>
            </a:endParaRPr>
          </a:p>
          <a:p>
            <a:pPr indent="-336550" lvl="0" marL="457200" rtl="0" algn="l">
              <a:lnSpc>
                <a:spcPct val="115000"/>
              </a:lnSpc>
              <a:spcBef>
                <a:spcPts val="0"/>
              </a:spcBef>
              <a:spcAft>
                <a:spcPts val="0"/>
              </a:spcAft>
              <a:buClr>
                <a:schemeClr val="dk1"/>
              </a:buClr>
              <a:buSzPts val="1700"/>
              <a:buFont typeface="Oswald"/>
              <a:buChar char="●"/>
            </a:pPr>
            <a:r>
              <a:rPr lang="fr" sz="1700">
                <a:solidFill>
                  <a:schemeClr val="dk1"/>
                </a:solidFill>
                <a:latin typeface="Oswald"/>
                <a:ea typeface="Oswald"/>
                <a:cs typeface="Oswald"/>
                <a:sym typeface="Oswald"/>
              </a:rPr>
              <a:t>Given the 1,500 stations in the network, this results in a total of</a:t>
            </a:r>
            <a:r>
              <a:rPr lang="fr" sz="1700">
                <a:solidFill>
                  <a:srgbClr val="F5DCA1"/>
                </a:solidFill>
                <a:latin typeface="Oswald"/>
                <a:ea typeface="Oswald"/>
                <a:cs typeface="Oswald"/>
                <a:sym typeface="Oswald"/>
              </a:rPr>
              <a:t> 5,040,000 status records</a:t>
            </a:r>
            <a:r>
              <a:rPr lang="fr" sz="1700">
                <a:solidFill>
                  <a:schemeClr val="dk1"/>
                </a:solidFill>
                <a:latin typeface="Oswald"/>
                <a:ea typeface="Oswald"/>
                <a:cs typeface="Oswald"/>
                <a:sym typeface="Oswald"/>
              </a:rPr>
              <a:t> (&gt;700 Mb).</a:t>
            </a:r>
            <a:endParaRPr sz="1700">
              <a:solidFill>
                <a:schemeClr val="dk1"/>
              </a:solidFill>
              <a:latin typeface="Oswald"/>
              <a:ea typeface="Oswald"/>
              <a:cs typeface="Oswald"/>
              <a:sym typeface="Oswald"/>
            </a:endParaRPr>
          </a:p>
          <a:p>
            <a:pPr indent="0" lvl="0" marL="0" rtl="0" algn="l">
              <a:lnSpc>
                <a:spcPct val="115000"/>
              </a:lnSpc>
              <a:spcBef>
                <a:spcPts val="1200"/>
              </a:spcBef>
              <a:spcAft>
                <a:spcPts val="0"/>
              </a:spcAft>
              <a:buNone/>
            </a:pPr>
            <a:r>
              <a:rPr lang="fr" sz="1900">
                <a:solidFill>
                  <a:srgbClr val="CACACA"/>
                </a:solidFill>
                <a:latin typeface="Arial"/>
                <a:ea typeface="Arial"/>
                <a:cs typeface="Arial"/>
                <a:sym typeface="Arial"/>
              </a:rPr>
              <a:t>☝︎</a:t>
            </a:r>
            <a:r>
              <a:rPr lang="fr" sz="1500">
                <a:solidFill>
                  <a:srgbClr val="CACACA"/>
                </a:solidFill>
                <a:latin typeface="Oswald"/>
                <a:ea typeface="Oswald"/>
                <a:cs typeface="Oswald"/>
                <a:sym typeface="Oswald"/>
              </a:rPr>
              <a:t>The 5-week window is strategically selected to fit within the limited RAM capacity of the Raspberry Pi 5.)</a:t>
            </a:r>
            <a:endParaRPr/>
          </a:p>
          <a:p>
            <a:pPr indent="0" lvl="0" marL="457200" rtl="0" algn="l">
              <a:lnSpc>
                <a:spcPct val="115000"/>
              </a:lnSpc>
              <a:spcBef>
                <a:spcPts val="1200"/>
              </a:spcBef>
              <a:spcAft>
                <a:spcPts val="0"/>
              </a:spcAft>
              <a:buNone/>
            </a:pPr>
            <a:r>
              <a:t/>
            </a:r>
            <a:endParaRPr/>
          </a:p>
          <a:p>
            <a:pPr indent="0" lvl="0" marL="457200" rtl="0" algn="l">
              <a:lnSpc>
                <a:spcPct val="115000"/>
              </a:lnSpc>
              <a:spcBef>
                <a:spcPts val="1200"/>
              </a:spcBef>
              <a:spcAft>
                <a:spcPts val="0"/>
              </a:spcAft>
              <a:buNone/>
            </a:pPr>
            <a:r>
              <a:t/>
            </a:r>
            <a:endParaRPr/>
          </a:p>
          <a:p>
            <a:pPr indent="-334010" lvl="0" marL="457200" rtl="0" algn="l">
              <a:lnSpc>
                <a:spcPct val="115000"/>
              </a:lnSpc>
              <a:spcBef>
                <a:spcPts val="1200"/>
              </a:spcBef>
              <a:spcAft>
                <a:spcPts val="0"/>
              </a:spcAft>
              <a:buClr>
                <a:schemeClr val="dk1"/>
              </a:buClr>
              <a:buSzPts val="1660"/>
              <a:buFont typeface="Oswald"/>
              <a:buChar char="●"/>
            </a:pPr>
            <a:r>
              <a:rPr lang="fr" sz="1660">
                <a:solidFill>
                  <a:schemeClr val="dk1"/>
                </a:solidFill>
                <a:latin typeface="Oswald"/>
                <a:ea typeface="Oswald"/>
                <a:cs typeface="Oswald"/>
                <a:sym typeface="Oswald"/>
              </a:rPr>
              <a:t>Features include the station code and its geographic coordinates, capacity, and borough, alongside temporal features extracted from the timestamp (hour, minute, day of week, and binary flags for weekend, rush hour, morning, night, and summer), plus the current bike count and its discretized label.</a:t>
            </a:r>
            <a:endParaRPr sz="1660">
              <a:solidFill>
                <a:schemeClr val="dk1"/>
              </a:solidFill>
              <a:latin typeface="Oswald"/>
              <a:ea typeface="Oswald"/>
              <a:cs typeface="Oswald"/>
              <a:sym typeface="Oswald"/>
            </a:endParaRPr>
          </a:p>
        </p:txBody>
      </p:sp>
      <p:sp>
        <p:nvSpPr>
          <p:cNvPr id="145" name="Google Shape;145;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Training Dataset Construction</a:t>
            </a:r>
            <a:endParaRPr>
              <a:solidFill>
                <a:srgbClr val="F5DCA1"/>
              </a:solidFill>
            </a:endParaRPr>
          </a:p>
        </p:txBody>
      </p:sp>
      <p:pic>
        <p:nvPicPr>
          <p:cNvPr id="146" name="Google Shape;146;p22"/>
          <p:cNvPicPr preferRelativeResize="0"/>
          <p:nvPr/>
        </p:nvPicPr>
        <p:blipFill rotWithShape="1">
          <a:blip r:embed="rId3">
            <a:alphaModFix/>
          </a:blip>
          <a:srcRect b="79673" l="0" r="32134" t="0"/>
          <a:stretch/>
        </p:blipFill>
        <p:spPr>
          <a:xfrm>
            <a:off x="1953924" y="3004625"/>
            <a:ext cx="5312348" cy="729526"/>
          </a:xfrm>
          <a:prstGeom prst="rect">
            <a:avLst/>
          </a:prstGeom>
          <a:noFill/>
          <a:ln>
            <a:noFill/>
          </a:ln>
        </p:spPr>
      </p:pic>
      <p:pic>
        <p:nvPicPr>
          <p:cNvPr id="147" name="Google Shape;147;p22" title="AK.png"/>
          <p:cNvPicPr preferRelativeResize="0"/>
          <p:nvPr/>
        </p:nvPicPr>
        <p:blipFill rotWithShape="1">
          <a:blip r:embed="rId4">
            <a:alphaModFix/>
          </a:blip>
          <a:srcRect b="0" l="0" r="0" t="0"/>
          <a:stretch/>
        </p:blipFill>
        <p:spPr>
          <a:xfrm>
            <a:off x="8538151" y="225401"/>
            <a:ext cx="370350" cy="3703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3"/>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334010" lvl="0" marL="457200" rtl="0" algn="l">
              <a:lnSpc>
                <a:spcPct val="115000"/>
              </a:lnSpc>
              <a:spcBef>
                <a:spcPts val="1200"/>
              </a:spcBef>
              <a:spcAft>
                <a:spcPts val="0"/>
              </a:spcAft>
              <a:buClr>
                <a:schemeClr val="dk1"/>
              </a:buClr>
              <a:buSzPts val="1660"/>
              <a:buFont typeface="Oswald"/>
              <a:buChar char="●"/>
            </a:pPr>
            <a:r>
              <a:rPr lang="fr" sz="1660">
                <a:solidFill>
                  <a:schemeClr val="dk1"/>
                </a:solidFill>
                <a:latin typeface="Oswald"/>
                <a:ea typeface="Oswald"/>
                <a:cs typeface="Oswald"/>
                <a:sym typeface="Oswald"/>
              </a:rPr>
              <a:t>The model is a single </a:t>
            </a:r>
            <a:r>
              <a:rPr lang="fr" sz="1660">
                <a:solidFill>
                  <a:srgbClr val="F5DCA1"/>
                </a:solidFill>
                <a:latin typeface="Oswald"/>
                <a:ea typeface="Oswald"/>
                <a:cs typeface="Oswald"/>
                <a:sym typeface="Oswald"/>
              </a:rPr>
              <a:t>LightGBM</a:t>
            </a:r>
            <a:r>
              <a:rPr lang="fr" sz="1660">
                <a:solidFill>
                  <a:schemeClr val="dk1"/>
                </a:solidFill>
                <a:latin typeface="Oswald"/>
                <a:ea typeface="Oswald"/>
                <a:cs typeface="Oswald"/>
                <a:sym typeface="Oswald"/>
              </a:rPr>
              <a:t> </a:t>
            </a:r>
            <a:r>
              <a:rPr lang="fr" sz="1660">
                <a:solidFill>
                  <a:srgbClr val="F5DCA1"/>
                </a:solidFill>
                <a:latin typeface="Oswald"/>
                <a:ea typeface="Oswald"/>
                <a:cs typeface="Oswald"/>
                <a:sym typeface="Oswald"/>
              </a:rPr>
              <a:t>multiclass classifier</a:t>
            </a:r>
            <a:r>
              <a:rPr lang="fr" sz="1660">
                <a:solidFill>
                  <a:schemeClr val="dk1"/>
                </a:solidFill>
                <a:latin typeface="Oswald"/>
                <a:ea typeface="Oswald"/>
                <a:cs typeface="Oswald"/>
                <a:sym typeface="Oswald"/>
              </a:rPr>
              <a:t> that predicts bike availability across 5 time horizons simultaneously: 15, 30, 45, 60, and 120 minutes ahead.</a:t>
            </a:r>
            <a:endParaRPr sz="1660">
              <a:solidFill>
                <a:schemeClr val="dk1"/>
              </a:solidFill>
              <a:latin typeface="Oswald"/>
              <a:ea typeface="Oswald"/>
              <a:cs typeface="Oswald"/>
              <a:sym typeface="Oswald"/>
            </a:endParaRPr>
          </a:p>
          <a:p>
            <a:pPr indent="-334010" lvl="0" marL="457200" rtl="0" algn="l">
              <a:lnSpc>
                <a:spcPct val="115000"/>
              </a:lnSpc>
              <a:spcBef>
                <a:spcPts val="1000"/>
              </a:spcBef>
              <a:spcAft>
                <a:spcPts val="0"/>
              </a:spcAft>
              <a:buClr>
                <a:schemeClr val="dk1"/>
              </a:buClr>
              <a:buSzPts val="1660"/>
              <a:buFont typeface="Oswald"/>
              <a:buChar char="●"/>
            </a:pPr>
            <a:r>
              <a:rPr lang="fr" sz="1660">
                <a:solidFill>
                  <a:schemeClr val="dk1"/>
                </a:solidFill>
                <a:latin typeface="Oswald"/>
                <a:ea typeface="Oswald"/>
                <a:cs typeface="Oswald"/>
                <a:sym typeface="Oswald"/>
              </a:rPr>
              <a:t>The target variable is the bike count bucketed into </a:t>
            </a:r>
            <a:r>
              <a:rPr lang="fr" sz="1660">
                <a:solidFill>
                  <a:srgbClr val="F5DCA1"/>
                </a:solidFill>
                <a:latin typeface="Oswald"/>
                <a:ea typeface="Oswald"/>
                <a:cs typeface="Oswald"/>
                <a:sym typeface="Oswald"/>
              </a:rPr>
              <a:t>3 classes</a:t>
            </a:r>
            <a:r>
              <a:rPr lang="fr" sz="1660">
                <a:solidFill>
                  <a:schemeClr val="dk1"/>
                </a:solidFill>
                <a:latin typeface="Oswald"/>
                <a:ea typeface="Oswald"/>
                <a:cs typeface="Oswald"/>
                <a:sym typeface="Oswald"/>
              </a:rPr>
              <a:t>: low (≤2), medium (3–7), and high (≥8).</a:t>
            </a:r>
            <a:endParaRPr sz="1660">
              <a:solidFill>
                <a:schemeClr val="dk1"/>
              </a:solidFill>
              <a:latin typeface="Oswald"/>
              <a:ea typeface="Oswald"/>
              <a:cs typeface="Oswald"/>
              <a:sym typeface="Oswald"/>
            </a:endParaRPr>
          </a:p>
          <a:p>
            <a:pPr indent="-334010" lvl="0" marL="457200" rtl="0" algn="l">
              <a:lnSpc>
                <a:spcPct val="115000"/>
              </a:lnSpc>
              <a:spcBef>
                <a:spcPts val="1200"/>
              </a:spcBef>
              <a:spcAft>
                <a:spcPts val="0"/>
              </a:spcAft>
              <a:buClr>
                <a:schemeClr val="dk1"/>
              </a:buClr>
              <a:buSzPts val="1660"/>
              <a:buFont typeface="Oswald"/>
              <a:buChar char="●"/>
            </a:pPr>
            <a:r>
              <a:rPr lang="fr" sz="1660">
                <a:solidFill>
                  <a:schemeClr val="dk1"/>
                </a:solidFill>
                <a:latin typeface="Oswald"/>
                <a:ea typeface="Oswald"/>
                <a:cs typeface="Oswald"/>
                <a:sym typeface="Oswald"/>
              </a:rPr>
              <a:t>Rather than training one model per horizon, the dataset is reshaped into a long format where each row is duplicated 5 times with horizon added as a feature. This lets a single model learn all horizons at once, cutting training time and memory by 5×.</a:t>
            </a:r>
            <a:endParaRPr sz="1660">
              <a:solidFill>
                <a:schemeClr val="dk1"/>
              </a:solidFill>
              <a:latin typeface="Oswald"/>
              <a:ea typeface="Oswald"/>
              <a:cs typeface="Oswald"/>
              <a:sym typeface="Oswald"/>
            </a:endParaRPr>
          </a:p>
          <a:p>
            <a:pPr indent="0" lvl="0" marL="0" rtl="0" algn="l">
              <a:lnSpc>
                <a:spcPct val="115000"/>
              </a:lnSpc>
              <a:spcBef>
                <a:spcPts val="1200"/>
              </a:spcBef>
              <a:spcAft>
                <a:spcPts val="0"/>
              </a:spcAft>
              <a:buSzPts val="770"/>
              <a:buNone/>
            </a:pPr>
            <a:r>
              <a:t/>
            </a:r>
            <a:endParaRPr sz="1660">
              <a:solidFill>
                <a:schemeClr val="dk1"/>
              </a:solidFill>
              <a:latin typeface="Oswald"/>
              <a:ea typeface="Oswald"/>
              <a:cs typeface="Oswald"/>
              <a:sym typeface="Oswald"/>
            </a:endParaRPr>
          </a:p>
          <a:p>
            <a:pPr indent="0" lvl="0" marL="0" rtl="0" algn="l">
              <a:lnSpc>
                <a:spcPct val="115000"/>
              </a:lnSpc>
              <a:spcBef>
                <a:spcPts val="1200"/>
              </a:spcBef>
              <a:spcAft>
                <a:spcPts val="0"/>
              </a:spcAft>
              <a:buSzPts val="770"/>
              <a:buNone/>
            </a:pPr>
            <a:r>
              <a:rPr lang="fr" sz="1500">
                <a:solidFill>
                  <a:srgbClr val="CACACA"/>
                </a:solidFill>
                <a:latin typeface="Arial"/>
                <a:ea typeface="Arial"/>
                <a:cs typeface="Arial"/>
                <a:sym typeface="Arial"/>
              </a:rPr>
              <a:t>☝︎</a:t>
            </a:r>
            <a:r>
              <a:rPr lang="fr" sz="1500">
                <a:solidFill>
                  <a:srgbClr val="CACACA"/>
                </a:solidFill>
                <a:latin typeface="Oswald"/>
                <a:ea typeface="Oswald"/>
                <a:cs typeface="Oswald"/>
                <a:sym typeface="Oswald"/>
              </a:rPr>
              <a:t>Hyperparameters are fixed from the best run identified in a prior search session, as the Raspberry Pi 5's limited CPU makes repeated training runs impractical.</a:t>
            </a:r>
            <a:endParaRPr sz="1500">
              <a:solidFill>
                <a:srgbClr val="CACACA"/>
              </a:solidFill>
              <a:latin typeface="Oswald"/>
              <a:ea typeface="Oswald"/>
              <a:cs typeface="Oswald"/>
              <a:sym typeface="Oswald"/>
            </a:endParaRPr>
          </a:p>
          <a:p>
            <a:pPr indent="0" lvl="0" marL="0" rtl="0" algn="l">
              <a:lnSpc>
                <a:spcPct val="115000"/>
              </a:lnSpc>
              <a:spcBef>
                <a:spcPts val="1200"/>
              </a:spcBef>
              <a:spcAft>
                <a:spcPts val="1000"/>
              </a:spcAft>
              <a:buSzPts val="770"/>
              <a:buNone/>
            </a:pPr>
            <a:r>
              <a:t/>
            </a:r>
            <a:endParaRPr sz="1660">
              <a:solidFill>
                <a:schemeClr val="dk1"/>
              </a:solidFill>
              <a:latin typeface="Oswald"/>
              <a:ea typeface="Oswald"/>
              <a:cs typeface="Oswald"/>
              <a:sym typeface="Oswald"/>
            </a:endParaRPr>
          </a:p>
        </p:txBody>
      </p:sp>
      <p:sp>
        <p:nvSpPr>
          <p:cNvPr id="153" name="Google Shape;153;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Model </a:t>
            </a:r>
            <a:r>
              <a:rPr lang="fr">
                <a:solidFill>
                  <a:srgbClr val="F5DCA1"/>
                </a:solidFill>
              </a:rPr>
              <a:t>Training</a:t>
            </a:r>
            <a:endParaRPr>
              <a:solidFill>
                <a:srgbClr val="F5DCA1"/>
              </a:solidFill>
            </a:endParaRPr>
          </a:p>
        </p:txBody>
      </p:sp>
      <p:pic>
        <p:nvPicPr>
          <p:cNvPr id="154" name="Google Shape;154;p23" title="AK.png"/>
          <p:cNvPicPr preferRelativeResize="0"/>
          <p:nvPr/>
        </p:nvPicPr>
        <p:blipFill rotWithShape="1">
          <a:blip r:embed="rId3">
            <a:alphaModFix/>
          </a:blip>
          <a:srcRect b="0" l="0" r="0" t="0"/>
          <a:stretch/>
        </p:blipFill>
        <p:spPr>
          <a:xfrm>
            <a:off x="8538151" y="225401"/>
            <a:ext cx="370350" cy="3703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Model Evaluation &amp; Champion Promotion</a:t>
            </a:r>
            <a:endParaRPr>
              <a:solidFill>
                <a:srgbClr val="F5DCA1"/>
              </a:solidFill>
            </a:endParaRPr>
          </a:p>
        </p:txBody>
      </p:sp>
      <p:pic>
        <p:nvPicPr>
          <p:cNvPr id="160" name="Google Shape;160;p24" title="AK.png"/>
          <p:cNvPicPr preferRelativeResize="0"/>
          <p:nvPr/>
        </p:nvPicPr>
        <p:blipFill rotWithShape="1">
          <a:blip r:embed="rId3">
            <a:alphaModFix/>
          </a:blip>
          <a:srcRect b="0" l="0" r="0" t="0"/>
          <a:stretch/>
        </p:blipFill>
        <p:spPr>
          <a:xfrm>
            <a:off x="8538151" y="225401"/>
            <a:ext cx="370350" cy="370350"/>
          </a:xfrm>
          <a:prstGeom prst="rect">
            <a:avLst/>
          </a:prstGeom>
          <a:noFill/>
          <a:ln>
            <a:noFill/>
          </a:ln>
        </p:spPr>
      </p:pic>
      <p:sp>
        <p:nvSpPr>
          <p:cNvPr id="161" name="Google Shape;161;p24"/>
          <p:cNvSpPr txBox="1"/>
          <p:nvPr>
            <p:ph idx="1" type="body"/>
          </p:nvPr>
        </p:nvSpPr>
        <p:spPr>
          <a:xfrm>
            <a:off x="311700" y="1152475"/>
            <a:ext cx="8520600" cy="3625500"/>
          </a:xfrm>
          <a:prstGeom prst="rect">
            <a:avLst/>
          </a:prstGeom>
        </p:spPr>
        <p:txBody>
          <a:bodyPr anchorCtr="0" anchor="t" bIns="91425" lIns="91425" spcFirstLastPara="1" rIns="91425" wrap="square" tIns="91425">
            <a:noAutofit/>
          </a:bodyPr>
          <a:lstStyle/>
          <a:p>
            <a:pPr indent="-334010" lvl="0" marL="457200" rtl="0" algn="l">
              <a:lnSpc>
                <a:spcPct val="100000"/>
              </a:lnSpc>
              <a:spcBef>
                <a:spcPts val="1200"/>
              </a:spcBef>
              <a:spcAft>
                <a:spcPts val="0"/>
              </a:spcAft>
              <a:buClr>
                <a:schemeClr val="dk1"/>
              </a:buClr>
              <a:buSzPts val="1660"/>
              <a:buFont typeface="Oswald"/>
              <a:buChar char="●"/>
            </a:pPr>
            <a:r>
              <a:rPr lang="fr" sz="1660">
                <a:solidFill>
                  <a:schemeClr val="dk1"/>
                </a:solidFill>
                <a:latin typeface="Oswald"/>
                <a:ea typeface="Oswald"/>
                <a:cs typeface="Oswald"/>
                <a:sym typeface="Oswald"/>
              </a:rPr>
              <a:t>Each training run is fully </a:t>
            </a:r>
            <a:r>
              <a:rPr lang="fr" sz="1660">
                <a:solidFill>
                  <a:srgbClr val="F5DCA1"/>
                </a:solidFill>
                <a:latin typeface="Oswald"/>
                <a:ea typeface="Oswald"/>
                <a:cs typeface="Oswald"/>
                <a:sym typeface="Oswald"/>
              </a:rPr>
              <a:t>logged to MLflow</a:t>
            </a:r>
            <a:r>
              <a:rPr lang="fr" sz="1660">
                <a:solidFill>
                  <a:schemeClr val="dk1"/>
                </a:solidFill>
                <a:latin typeface="Oswald"/>
                <a:ea typeface="Oswald"/>
                <a:cs typeface="Oswald"/>
                <a:sym typeface="Oswald"/>
              </a:rPr>
              <a:t>: parameters, per-horizon accuracy and F1, weighted accuracy, model artifact, encoder, and feature names.</a:t>
            </a:r>
            <a:br>
              <a:rPr lang="fr" sz="1660">
                <a:solidFill>
                  <a:schemeClr val="dk1"/>
                </a:solidFill>
                <a:latin typeface="Oswald"/>
                <a:ea typeface="Oswald"/>
                <a:cs typeface="Oswald"/>
                <a:sym typeface="Oswald"/>
              </a:rPr>
            </a:br>
            <a:endParaRPr sz="1660">
              <a:solidFill>
                <a:schemeClr val="dk1"/>
              </a:solidFill>
              <a:latin typeface="Oswald"/>
              <a:ea typeface="Oswald"/>
              <a:cs typeface="Oswald"/>
              <a:sym typeface="Oswald"/>
            </a:endParaRPr>
          </a:p>
          <a:p>
            <a:pPr indent="-334010" lvl="0" marL="457200" rtl="0" algn="l">
              <a:lnSpc>
                <a:spcPct val="100000"/>
              </a:lnSpc>
              <a:spcBef>
                <a:spcPts val="0"/>
              </a:spcBef>
              <a:spcAft>
                <a:spcPts val="0"/>
              </a:spcAft>
              <a:buClr>
                <a:schemeClr val="dk1"/>
              </a:buClr>
              <a:buSzPts val="1660"/>
              <a:buFont typeface="Oswald"/>
              <a:buChar char="●"/>
            </a:pPr>
            <a:r>
              <a:rPr lang="fr" sz="1660">
                <a:solidFill>
                  <a:schemeClr val="dk1"/>
                </a:solidFill>
                <a:latin typeface="Oswald"/>
                <a:ea typeface="Oswald"/>
                <a:cs typeface="Oswald"/>
                <a:sym typeface="Oswald"/>
              </a:rPr>
              <a:t>Every Thursday at midnight, the </a:t>
            </a:r>
            <a:r>
              <a:rPr lang="fr" sz="1660">
                <a:solidFill>
                  <a:srgbClr val="F5DCA1"/>
                </a:solidFill>
                <a:latin typeface="Oswald"/>
                <a:ea typeface="Oswald"/>
                <a:cs typeface="Oswald"/>
                <a:sym typeface="Oswald"/>
              </a:rPr>
              <a:t>5 most recent runs</a:t>
            </a:r>
            <a:r>
              <a:rPr lang="fr" sz="1660">
                <a:solidFill>
                  <a:schemeClr val="dk1"/>
                </a:solidFill>
                <a:latin typeface="Oswald"/>
                <a:ea typeface="Oswald"/>
                <a:cs typeface="Oswald"/>
                <a:sym typeface="Oswald"/>
              </a:rPr>
              <a:t> are evaluated on a common holdout covering Monday to Wednesday of the current week — data that was never seen during training.</a:t>
            </a:r>
            <a:br>
              <a:rPr lang="fr" sz="1660">
                <a:solidFill>
                  <a:schemeClr val="dk1"/>
                </a:solidFill>
                <a:latin typeface="Oswald"/>
                <a:ea typeface="Oswald"/>
                <a:cs typeface="Oswald"/>
                <a:sym typeface="Oswald"/>
              </a:rPr>
            </a:br>
            <a:endParaRPr sz="1660">
              <a:solidFill>
                <a:schemeClr val="dk1"/>
              </a:solidFill>
              <a:latin typeface="Oswald"/>
              <a:ea typeface="Oswald"/>
              <a:cs typeface="Oswald"/>
              <a:sym typeface="Oswald"/>
            </a:endParaRPr>
          </a:p>
          <a:p>
            <a:pPr indent="-334010" lvl="0" marL="457200" rtl="0" algn="l">
              <a:lnSpc>
                <a:spcPct val="100000"/>
              </a:lnSpc>
              <a:spcBef>
                <a:spcPts val="0"/>
              </a:spcBef>
              <a:spcAft>
                <a:spcPts val="0"/>
              </a:spcAft>
              <a:buClr>
                <a:schemeClr val="dk1"/>
              </a:buClr>
              <a:buSzPts val="1660"/>
              <a:buFont typeface="Oswald"/>
              <a:buChar char="●"/>
            </a:pPr>
            <a:r>
              <a:rPr lang="fr" sz="1660">
                <a:solidFill>
                  <a:schemeClr val="dk1"/>
                </a:solidFill>
                <a:latin typeface="Oswald"/>
                <a:ea typeface="Oswald"/>
                <a:cs typeface="Oswald"/>
                <a:sym typeface="Oswald"/>
              </a:rPr>
              <a:t>The selection metric is a </a:t>
            </a:r>
            <a:r>
              <a:rPr lang="fr" sz="1660">
                <a:solidFill>
                  <a:srgbClr val="F5DCA1"/>
                </a:solidFill>
                <a:latin typeface="Oswald"/>
                <a:ea typeface="Oswald"/>
                <a:cs typeface="Oswald"/>
                <a:sym typeface="Oswald"/>
              </a:rPr>
              <a:t>weighted accuracy across the 5 horizons</a:t>
            </a:r>
            <a:r>
              <a:rPr lang="fr" sz="1660">
                <a:solidFill>
                  <a:schemeClr val="dk1"/>
                </a:solidFill>
                <a:latin typeface="Oswald"/>
                <a:ea typeface="Oswald"/>
                <a:cs typeface="Oswald"/>
                <a:sym typeface="Oswald"/>
              </a:rPr>
              <a:t>, giving more weight to shorter-term predictions (weight 5 for t+15 down to weight 1 for t+120).</a:t>
            </a:r>
            <a:br>
              <a:rPr lang="fr" sz="1660">
                <a:solidFill>
                  <a:schemeClr val="dk1"/>
                </a:solidFill>
                <a:latin typeface="Oswald"/>
                <a:ea typeface="Oswald"/>
                <a:cs typeface="Oswald"/>
                <a:sym typeface="Oswald"/>
              </a:rPr>
            </a:br>
            <a:endParaRPr sz="1660">
              <a:solidFill>
                <a:schemeClr val="dk1"/>
              </a:solidFill>
              <a:latin typeface="Oswald"/>
              <a:ea typeface="Oswald"/>
              <a:cs typeface="Oswald"/>
              <a:sym typeface="Oswald"/>
            </a:endParaRPr>
          </a:p>
          <a:p>
            <a:pPr indent="-334010" lvl="0" marL="457200" rtl="0" algn="l">
              <a:lnSpc>
                <a:spcPct val="100000"/>
              </a:lnSpc>
              <a:spcBef>
                <a:spcPts val="0"/>
              </a:spcBef>
              <a:spcAft>
                <a:spcPts val="0"/>
              </a:spcAft>
              <a:buClr>
                <a:schemeClr val="dk1"/>
              </a:buClr>
              <a:buSzPts val="1660"/>
              <a:buFont typeface="Oswald"/>
              <a:buChar char="●"/>
            </a:pPr>
            <a:r>
              <a:rPr lang="fr" sz="1660">
                <a:solidFill>
                  <a:schemeClr val="dk1"/>
                </a:solidFill>
                <a:latin typeface="Oswald"/>
                <a:ea typeface="Oswald"/>
                <a:cs typeface="Oswald"/>
                <a:sym typeface="Oswald"/>
              </a:rPr>
              <a:t>A candidate only replaces the current champion if it exceeds its </a:t>
            </a:r>
            <a:r>
              <a:rPr i="1" lang="fr" sz="1660">
                <a:solidFill>
                  <a:schemeClr val="dk1"/>
                </a:solidFill>
                <a:latin typeface="Oswald"/>
                <a:ea typeface="Oswald"/>
                <a:cs typeface="Oswald"/>
                <a:sym typeface="Oswald"/>
              </a:rPr>
              <a:t>holdout_weighted_accuracy</a:t>
            </a:r>
            <a:r>
              <a:rPr lang="fr" sz="1660">
                <a:solidFill>
                  <a:schemeClr val="dk1"/>
                </a:solidFill>
                <a:latin typeface="Oswald"/>
                <a:ea typeface="Oswald"/>
                <a:cs typeface="Oswald"/>
                <a:sym typeface="Oswald"/>
              </a:rPr>
              <a:t> by a margin of 0.001, avoiding promotion from negligible improvements. If it does, the new model is registered in the MLflow Model Registry and the </a:t>
            </a:r>
            <a:r>
              <a:rPr lang="fr" sz="1660">
                <a:solidFill>
                  <a:srgbClr val="F5DCA1"/>
                </a:solidFill>
                <a:latin typeface="Oswald"/>
                <a:ea typeface="Oswald"/>
                <a:cs typeface="Oswald"/>
                <a:sym typeface="Oswald"/>
              </a:rPr>
              <a:t>champion alias</a:t>
            </a:r>
            <a:r>
              <a:rPr lang="fr" sz="1660">
                <a:solidFill>
                  <a:schemeClr val="dk1"/>
                </a:solidFill>
                <a:latin typeface="Oswald"/>
                <a:ea typeface="Oswald"/>
                <a:cs typeface="Oswald"/>
                <a:sym typeface="Oswald"/>
              </a:rPr>
              <a:t> is reassigned to it, triggering a </a:t>
            </a:r>
            <a:r>
              <a:rPr lang="fr" sz="1660">
                <a:solidFill>
                  <a:srgbClr val="F5DCA1"/>
                </a:solidFill>
                <a:latin typeface="Oswald"/>
                <a:ea typeface="Oswald"/>
                <a:cs typeface="Oswald"/>
                <a:sym typeface="Oswald"/>
              </a:rPr>
              <a:t>hot-reload</a:t>
            </a:r>
            <a:r>
              <a:rPr lang="fr" sz="1660">
                <a:solidFill>
                  <a:schemeClr val="dk1"/>
                </a:solidFill>
                <a:latin typeface="Oswald"/>
                <a:ea typeface="Oswald"/>
                <a:cs typeface="Oswald"/>
                <a:sym typeface="Oswald"/>
              </a:rPr>
              <a:t> of the API without restarting the container.</a:t>
            </a:r>
            <a:endParaRPr sz="1660">
              <a:solidFill>
                <a:schemeClr val="dk1"/>
              </a:solidFill>
              <a:latin typeface="Oswald"/>
              <a:ea typeface="Oswald"/>
              <a:cs typeface="Oswald"/>
              <a:sym typeface="Oswa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65" name="Shape 165"/>
        <p:cNvGrpSpPr/>
        <p:nvPr/>
      </p:nvGrpSpPr>
      <p:grpSpPr>
        <a:xfrm>
          <a:off x="0" y="0"/>
          <a:ext cx="0" cy="0"/>
          <a:chOff x="0" y="0"/>
          <a:chExt cx="0" cy="0"/>
        </a:xfrm>
      </p:grpSpPr>
      <p:sp>
        <p:nvSpPr>
          <p:cNvPr id="166" name="Google Shape;166;p2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
        <p:nvSpPr>
          <p:cNvPr id="167" name="Google Shape;167;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Inference API</a:t>
            </a:r>
            <a:endParaRPr>
              <a:solidFill>
                <a:srgbClr val="F5DCA1"/>
              </a:solidFill>
            </a:endParaRPr>
          </a:p>
        </p:txBody>
      </p:sp>
      <p:pic>
        <p:nvPicPr>
          <p:cNvPr id="168" name="Google Shape;168;p25" title="AK.png"/>
          <p:cNvPicPr preferRelativeResize="0"/>
          <p:nvPr/>
        </p:nvPicPr>
        <p:blipFill rotWithShape="1">
          <a:blip r:embed="rId3">
            <a:alphaModFix/>
          </a:blip>
          <a:srcRect b="0" l="0" r="0" t="0"/>
          <a:stretch/>
        </p:blipFill>
        <p:spPr>
          <a:xfrm>
            <a:off x="8538151" y="225401"/>
            <a:ext cx="370350" cy="370350"/>
          </a:xfrm>
          <a:prstGeom prst="rect">
            <a:avLst/>
          </a:prstGeom>
          <a:noFill/>
          <a:ln>
            <a:noFill/>
          </a:ln>
        </p:spPr>
      </p:pic>
      <p:pic>
        <p:nvPicPr>
          <p:cNvPr id="169" name="Google Shape;169;p25"/>
          <p:cNvPicPr preferRelativeResize="0"/>
          <p:nvPr/>
        </p:nvPicPr>
        <p:blipFill>
          <a:blip r:embed="rId4">
            <a:alphaModFix/>
          </a:blip>
          <a:stretch>
            <a:fillRect/>
          </a:stretch>
        </p:blipFill>
        <p:spPr>
          <a:xfrm>
            <a:off x="4141749" y="2430425"/>
            <a:ext cx="860500" cy="8605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6"/>
          <p:cNvSpPr txBox="1"/>
          <p:nvPr>
            <p:ph idx="1" type="body"/>
          </p:nvPr>
        </p:nvSpPr>
        <p:spPr>
          <a:xfrm>
            <a:off x="960125" y="1152475"/>
            <a:ext cx="7872000" cy="38055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fr" sz="1600">
                <a:solidFill>
                  <a:schemeClr val="dk2"/>
                </a:solidFill>
              </a:rPr>
              <a:t>☑</a:t>
            </a:r>
            <a:r>
              <a:rPr lang="fr" sz="2000">
                <a:solidFill>
                  <a:schemeClr val="dk2"/>
                </a:solidFill>
              </a:rPr>
              <a:t> </a:t>
            </a:r>
            <a:r>
              <a:rPr lang="fr" strike="sngStrike">
                <a:solidFill>
                  <a:schemeClr val="dk2"/>
                </a:solidFill>
              </a:rPr>
              <a:t>Amazon S3 </a:t>
            </a:r>
            <a:endParaRPr strike="sngStrike">
              <a:solidFill>
                <a:schemeClr val="dk2"/>
              </a:solidFill>
            </a:endParaRPr>
          </a:p>
          <a:p>
            <a:pPr indent="0" lvl="0" marL="0" rtl="0" algn="l">
              <a:spcBef>
                <a:spcPts val="1200"/>
              </a:spcBef>
              <a:spcAft>
                <a:spcPts val="0"/>
              </a:spcAft>
              <a:buNone/>
            </a:pPr>
            <a:r>
              <a:rPr lang="fr" sz="1600">
                <a:solidFill>
                  <a:schemeClr val="dk2"/>
                </a:solidFill>
              </a:rPr>
              <a:t>☑</a:t>
            </a:r>
            <a:r>
              <a:rPr lang="fr" sz="2000">
                <a:solidFill>
                  <a:schemeClr val="dk2"/>
                </a:solidFill>
              </a:rPr>
              <a:t> </a:t>
            </a:r>
            <a:r>
              <a:rPr lang="fr" strike="sngStrike">
                <a:solidFill>
                  <a:schemeClr val="dk2"/>
                </a:solidFill>
              </a:rPr>
              <a:t>AWS Glue</a:t>
            </a:r>
            <a:endParaRPr strike="sngStrike">
              <a:solidFill>
                <a:schemeClr val="dk2"/>
              </a:solidFill>
            </a:endParaRPr>
          </a:p>
          <a:p>
            <a:pPr indent="0" lvl="0" marL="0" rtl="0" algn="l">
              <a:spcBef>
                <a:spcPts val="1200"/>
              </a:spcBef>
              <a:spcAft>
                <a:spcPts val="0"/>
              </a:spcAft>
              <a:buNone/>
            </a:pPr>
            <a:r>
              <a:rPr lang="fr" sz="1700">
                <a:solidFill>
                  <a:schemeClr val="dk2"/>
                </a:solidFill>
              </a:rPr>
              <a:t>☑ </a:t>
            </a:r>
            <a:r>
              <a:rPr lang="fr" strike="sngStrike">
                <a:solidFill>
                  <a:schemeClr val="dk2"/>
                </a:solidFill>
              </a:rPr>
              <a:t>Amazon Athena </a:t>
            </a:r>
            <a:endParaRPr strike="sngStrike">
              <a:solidFill>
                <a:schemeClr val="dk2"/>
              </a:solidFill>
            </a:endParaRPr>
          </a:p>
          <a:p>
            <a:pPr indent="0" lvl="0" marL="0" rtl="0" algn="l">
              <a:spcBef>
                <a:spcPts val="1200"/>
              </a:spcBef>
              <a:spcAft>
                <a:spcPts val="0"/>
              </a:spcAft>
              <a:buNone/>
            </a:pPr>
            <a:r>
              <a:rPr lang="fr" sz="1600">
                <a:solidFill>
                  <a:schemeClr val="dk1"/>
                </a:solidFill>
              </a:rPr>
              <a:t>☐</a:t>
            </a:r>
            <a:r>
              <a:rPr lang="fr" sz="2000">
                <a:solidFill>
                  <a:schemeClr val="dk1"/>
                </a:solidFill>
              </a:rPr>
              <a:t> </a:t>
            </a:r>
            <a:r>
              <a:rPr lang="fr">
                <a:solidFill>
                  <a:schemeClr val="dk1"/>
                </a:solidFill>
              </a:rPr>
              <a:t>AWS Managed </a:t>
            </a:r>
            <a:r>
              <a:rPr lang="fr">
                <a:solidFill>
                  <a:schemeClr val="dk1"/>
                </a:solidFill>
              </a:rPr>
              <a:t>Workflows</a:t>
            </a:r>
            <a:r>
              <a:rPr lang="fr">
                <a:solidFill>
                  <a:schemeClr val="dk1"/>
                </a:solidFill>
              </a:rPr>
              <a:t> for Apache Airflow </a:t>
            </a:r>
            <a:r>
              <a:rPr lang="fr" sz="1400">
                <a:solidFill>
                  <a:schemeClr val="dk1"/>
                </a:solidFill>
              </a:rPr>
              <a:t>(to replace the local Airflow instance)</a:t>
            </a:r>
            <a:endParaRPr sz="1400">
              <a:solidFill>
                <a:schemeClr val="dk1"/>
              </a:solidFill>
            </a:endParaRPr>
          </a:p>
          <a:p>
            <a:pPr indent="0" lvl="0" marL="0" rtl="0" algn="l">
              <a:spcBef>
                <a:spcPts val="1200"/>
              </a:spcBef>
              <a:spcAft>
                <a:spcPts val="0"/>
              </a:spcAft>
              <a:buNone/>
            </a:pPr>
            <a:r>
              <a:rPr lang="fr" sz="1600">
                <a:solidFill>
                  <a:schemeClr val="dk1"/>
                </a:solidFill>
              </a:rPr>
              <a:t>☐</a:t>
            </a:r>
            <a:r>
              <a:rPr lang="fr">
                <a:solidFill>
                  <a:schemeClr val="dk1"/>
                </a:solidFill>
              </a:rPr>
              <a:t> AWS Lambda </a:t>
            </a:r>
            <a:r>
              <a:rPr lang="fr" sz="1400">
                <a:solidFill>
                  <a:schemeClr val="dk1"/>
                </a:solidFill>
              </a:rPr>
              <a:t>(for running the lightweight 10-minute ingestion script)</a:t>
            </a:r>
            <a:endParaRPr sz="1400">
              <a:solidFill>
                <a:schemeClr val="dk1"/>
              </a:solidFill>
            </a:endParaRPr>
          </a:p>
          <a:p>
            <a:pPr indent="0" lvl="0" marL="0" rtl="0" algn="l">
              <a:spcBef>
                <a:spcPts val="1200"/>
              </a:spcBef>
              <a:spcAft>
                <a:spcPts val="0"/>
              </a:spcAft>
              <a:buNone/>
            </a:pPr>
            <a:r>
              <a:rPr lang="fr" sz="1600">
                <a:solidFill>
                  <a:schemeClr val="dk1"/>
                </a:solidFill>
              </a:rPr>
              <a:t>☐</a:t>
            </a:r>
            <a:r>
              <a:rPr lang="fr">
                <a:solidFill>
                  <a:schemeClr val="dk1"/>
                </a:solidFill>
              </a:rPr>
              <a:t> Amazon Elastic Container Registry </a:t>
            </a:r>
            <a:r>
              <a:rPr lang="fr" sz="1400">
                <a:solidFill>
                  <a:schemeClr val="dk1"/>
                </a:solidFill>
              </a:rPr>
              <a:t>(to replace local project storage with Docker images)</a:t>
            </a:r>
            <a:endParaRPr sz="1400">
              <a:solidFill>
                <a:schemeClr val="dk1"/>
              </a:solidFill>
            </a:endParaRPr>
          </a:p>
          <a:p>
            <a:pPr indent="0" lvl="0" marL="0" rtl="0" algn="l">
              <a:spcBef>
                <a:spcPts val="1200"/>
              </a:spcBef>
              <a:spcAft>
                <a:spcPts val="0"/>
              </a:spcAft>
              <a:buNone/>
            </a:pPr>
            <a:r>
              <a:rPr lang="fr" sz="1600">
                <a:solidFill>
                  <a:schemeClr val="dk1"/>
                </a:solidFill>
              </a:rPr>
              <a:t>☐</a:t>
            </a:r>
            <a:r>
              <a:rPr lang="fr">
                <a:solidFill>
                  <a:schemeClr val="dk1"/>
                </a:solidFill>
              </a:rPr>
              <a:t> Amazon SageMaker </a:t>
            </a:r>
            <a:r>
              <a:rPr lang="fr" sz="1400">
                <a:solidFill>
                  <a:schemeClr val="dk1"/>
                </a:solidFill>
              </a:rPr>
              <a:t>(for model training pipelines and deploying the inference API)</a:t>
            </a:r>
            <a:endParaRPr sz="1400">
              <a:solidFill>
                <a:schemeClr val="dk1"/>
              </a:solidFill>
            </a:endParaRPr>
          </a:p>
          <a:p>
            <a:pPr indent="0" lvl="0" marL="0" rtl="0" algn="l">
              <a:spcBef>
                <a:spcPts val="1200"/>
              </a:spcBef>
              <a:spcAft>
                <a:spcPts val="1200"/>
              </a:spcAft>
              <a:buNone/>
            </a:pPr>
            <a:r>
              <a:rPr lang="fr" sz="1600">
                <a:solidFill>
                  <a:schemeClr val="dk1"/>
                </a:solidFill>
              </a:rPr>
              <a:t>☐</a:t>
            </a:r>
            <a:r>
              <a:rPr lang="fr">
                <a:solidFill>
                  <a:schemeClr val="dk1"/>
                </a:solidFill>
              </a:rPr>
              <a:t> Amazon EC2 </a:t>
            </a:r>
            <a:r>
              <a:rPr lang="fr" sz="1400">
                <a:solidFill>
                  <a:schemeClr val="dk1"/>
                </a:solidFill>
              </a:rPr>
              <a:t>(for hosting the continuous MLflow tracking server and UI)</a:t>
            </a:r>
            <a:endParaRPr sz="1400">
              <a:solidFill>
                <a:schemeClr val="dk1"/>
              </a:solidFill>
            </a:endParaRPr>
          </a:p>
        </p:txBody>
      </p:sp>
      <p:sp>
        <p:nvSpPr>
          <p:cNvPr id="175" name="Google Shape;175;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Next step: transitioning to AWS</a:t>
            </a:r>
            <a:endParaRPr>
              <a:solidFill>
                <a:srgbClr val="F5DCA1"/>
              </a:solidFill>
            </a:endParaRPr>
          </a:p>
        </p:txBody>
      </p:sp>
      <p:pic>
        <p:nvPicPr>
          <p:cNvPr id="176" name="Google Shape;176;p26"/>
          <p:cNvPicPr preferRelativeResize="0"/>
          <p:nvPr/>
        </p:nvPicPr>
        <p:blipFill>
          <a:blip r:embed="rId3">
            <a:alphaModFix/>
          </a:blip>
          <a:stretch>
            <a:fillRect/>
          </a:stretch>
        </p:blipFill>
        <p:spPr>
          <a:xfrm>
            <a:off x="463250" y="2644480"/>
            <a:ext cx="360000" cy="360000"/>
          </a:xfrm>
          <a:prstGeom prst="rect">
            <a:avLst/>
          </a:prstGeom>
          <a:noFill/>
          <a:ln>
            <a:noFill/>
          </a:ln>
        </p:spPr>
      </p:pic>
      <p:pic>
        <p:nvPicPr>
          <p:cNvPr id="177" name="Google Shape;177;p26"/>
          <p:cNvPicPr preferRelativeResize="0"/>
          <p:nvPr/>
        </p:nvPicPr>
        <p:blipFill>
          <a:blip r:embed="rId4">
            <a:alphaModFix/>
          </a:blip>
          <a:stretch>
            <a:fillRect/>
          </a:stretch>
        </p:blipFill>
        <p:spPr>
          <a:xfrm>
            <a:off x="463250" y="3116481"/>
            <a:ext cx="360000" cy="360000"/>
          </a:xfrm>
          <a:prstGeom prst="rect">
            <a:avLst/>
          </a:prstGeom>
          <a:noFill/>
          <a:ln>
            <a:noFill/>
          </a:ln>
        </p:spPr>
      </p:pic>
      <p:pic>
        <p:nvPicPr>
          <p:cNvPr id="178" name="Google Shape;178;p26"/>
          <p:cNvPicPr preferRelativeResize="0"/>
          <p:nvPr/>
        </p:nvPicPr>
        <p:blipFill>
          <a:blip r:embed="rId5">
            <a:alphaModFix/>
          </a:blip>
          <a:stretch>
            <a:fillRect/>
          </a:stretch>
        </p:blipFill>
        <p:spPr>
          <a:xfrm>
            <a:off x="463250" y="4060485"/>
            <a:ext cx="360000" cy="360000"/>
          </a:xfrm>
          <a:prstGeom prst="rect">
            <a:avLst/>
          </a:prstGeom>
          <a:noFill/>
          <a:ln>
            <a:noFill/>
          </a:ln>
        </p:spPr>
      </p:pic>
      <p:pic>
        <p:nvPicPr>
          <p:cNvPr id="179" name="Google Shape;179;p26"/>
          <p:cNvPicPr preferRelativeResize="0"/>
          <p:nvPr/>
        </p:nvPicPr>
        <p:blipFill>
          <a:blip r:embed="rId6">
            <a:alphaModFix/>
          </a:blip>
          <a:stretch>
            <a:fillRect/>
          </a:stretch>
        </p:blipFill>
        <p:spPr>
          <a:xfrm>
            <a:off x="463250" y="3588483"/>
            <a:ext cx="360000" cy="360000"/>
          </a:xfrm>
          <a:prstGeom prst="rect">
            <a:avLst/>
          </a:prstGeom>
          <a:noFill/>
          <a:ln>
            <a:noFill/>
          </a:ln>
        </p:spPr>
      </p:pic>
      <p:pic>
        <p:nvPicPr>
          <p:cNvPr id="180" name="Google Shape;180;p26"/>
          <p:cNvPicPr preferRelativeResize="0"/>
          <p:nvPr/>
        </p:nvPicPr>
        <p:blipFill>
          <a:blip r:embed="rId7">
            <a:alphaModFix/>
          </a:blip>
          <a:stretch>
            <a:fillRect/>
          </a:stretch>
        </p:blipFill>
        <p:spPr>
          <a:xfrm>
            <a:off x="463250" y="1228475"/>
            <a:ext cx="360000" cy="360000"/>
          </a:xfrm>
          <a:prstGeom prst="rect">
            <a:avLst/>
          </a:prstGeom>
          <a:noFill/>
          <a:ln>
            <a:noFill/>
          </a:ln>
        </p:spPr>
      </p:pic>
      <p:pic>
        <p:nvPicPr>
          <p:cNvPr id="181" name="Google Shape;181;p26"/>
          <p:cNvPicPr preferRelativeResize="0"/>
          <p:nvPr/>
        </p:nvPicPr>
        <p:blipFill>
          <a:blip r:embed="rId8">
            <a:alphaModFix/>
          </a:blip>
          <a:stretch>
            <a:fillRect/>
          </a:stretch>
        </p:blipFill>
        <p:spPr>
          <a:xfrm>
            <a:off x="463250" y="1700477"/>
            <a:ext cx="360000" cy="360000"/>
          </a:xfrm>
          <a:prstGeom prst="rect">
            <a:avLst/>
          </a:prstGeom>
          <a:noFill/>
          <a:ln>
            <a:noFill/>
          </a:ln>
        </p:spPr>
      </p:pic>
      <p:pic>
        <p:nvPicPr>
          <p:cNvPr id="182" name="Google Shape;182;p26"/>
          <p:cNvPicPr preferRelativeResize="0"/>
          <p:nvPr/>
        </p:nvPicPr>
        <p:blipFill>
          <a:blip r:embed="rId9">
            <a:alphaModFix/>
          </a:blip>
          <a:stretch>
            <a:fillRect/>
          </a:stretch>
        </p:blipFill>
        <p:spPr>
          <a:xfrm>
            <a:off x="463250" y="2172478"/>
            <a:ext cx="360000" cy="360000"/>
          </a:xfrm>
          <a:prstGeom prst="rect">
            <a:avLst/>
          </a:prstGeom>
          <a:noFill/>
          <a:ln>
            <a:noFill/>
          </a:ln>
        </p:spPr>
      </p:pic>
      <p:pic>
        <p:nvPicPr>
          <p:cNvPr id="183" name="Google Shape;183;p26"/>
          <p:cNvPicPr preferRelativeResize="0"/>
          <p:nvPr/>
        </p:nvPicPr>
        <p:blipFill>
          <a:blip r:embed="rId10">
            <a:alphaModFix/>
          </a:blip>
          <a:stretch>
            <a:fillRect/>
          </a:stretch>
        </p:blipFill>
        <p:spPr>
          <a:xfrm>
            <a:off x="463250" y="4532475"/>
            <a:ext cx="360000" cy="3600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solidFill>
                  <a:srgbClr val="F5DCA1"/>
                </a:solidFill>
              </a:rPr>
              <a:t>Sources</a:t>
            </a:r>
            <a:endParaRPr>
              <a:solidFill>
                <a:srgbClr val="F5DCA1"/>
              </a:solidFill>
            </a:endParaRPr>
          </a:p>
        </p:txBody>
      </p:sp>
      <p:pic>
        <p:nvPicPr>
          <p:cNvPr id="189" name="Google Shape;189;p27" title="AK.png"/>
          <p:cNvPicPr preferRelativeResize="0"/>
          <p:nvPr/>
        </p:nvPicPr>
        <p:blipFill rotWithShape="1">
          <a:blip r:embed="rId3">
            <a:alphaModFix/>
          </a:blip>
          <a:srcRect b="0" l="0" r="0" t="0"/>
          <a:stretch/>
        </p:blipFill>
        <p:spPr>
          <a:xfrm>
            <a:off x="8538151" y="225401"/>
            <a:ext cx="370350" cy="370350"/>
          </a:xfrm>
          <a:prstGeom prst="rect">
            <a:avLst/>
          </a:prstGeom>
          <a:noFill/>
          <a:ln>
            <a:noFill/>
          </a:ln>
        </p:spPr>
      </p:pic>
      <p:sp>
        <p:nvSpPr>
          <p:cNvPr id="190" name="Google Shape;190;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lnSpc>
                <a:spcPct val="150000"/>
              </a:lnSpc>
              <a:spcBef>
                <a:spcPts val="0"/>
              </a:spcBef>
              <a:spcAft>
                <a:spcPts val="0"/>
              </a:spcAft>
              <a:buClr>
                <a:schemeClr val="dk1"/>
              </a:buClr>
              <a:buSzPts val="1800"/>
              <a:buFont typeface="Oswald"/>
              <a:buChar char="●"/>
            </a:pPr>
            <a:r>
              <a:rPr lang="fr" u="sng">
                <a:solidFill>
                  <a:srgbClr val="F5DCA1"/>
                </a:solidFill>
                <a:latin typeface="Oswald"/>
                <a:ea typeface="Oswald"/>
                <a:cs typeface="Oswald"/>
                <a:sym typeface="Oswald"/>
                <a:hlinkClick r:id="rId4">
                  <a:extLst>
                    <a:ext uri="{A12FA001-AC4F-418D-AE19-62706E023703}">
                      <ahyp:hlinkClr val="tx"/>
                    </a:ext>
                  </a:extLst>
                </a:hlinkClick>
              </a:rPr>
              <a:t>https://www.group-indigo.com/metier/smovengo/</a:t>
            </a:r>
            <a:endParaRPr>
              <a:solidFill>
                <a:srgbClr val="F5DCA1"/>
              </a:solidFill>
              <a:latin typeface="Oswald"/>
              <a:ea typeface="Oswald"/>
              <a:cs typeface="Oswald"/>
              <a:sym typeface="Oswald"/>
            </a:endParaRPr>
          </a:p>
          <a:p>
            <a:pPr indent="-342900" lvl="0" marL="457200" rtl="0" algn="l">
              <a:lnSpc>
                <a:spcPct val="150000"/>
              </a:lnSpc>
              <a:spcBef>
                <a:spcPts val="0"/>
              </a:spcBef>
              <a:spcAft>
                <a:spcPts val="0"/>
              </a:spcAft>
              <a:buClr>
                <a:schemeClr val="dk1"/>
              </a:buClr>
              <a:buSzPts val="1800"/>
              <a:buFont typeface="Oswald"/>
              <a:buChar char="●"/>
            </a:pPr>
            <a:r>
              <a:rPr lang="fr" u="sng">
                <a:solidFill>
                  <a:srgbClr val="F5DCA1"/>
                </a:solidFill>
                <a:latin typeface="Oswald"/>
                <a:ea typeface="Oswald"/>
                <a:cs typeface="Oswald"/>
                <a:sym typeface="Oswald"/>
                <a:hlinkClick r:id="rId5">
                  <a:extLst>
                    <a:ext uri="{A12FA001-AC4F-418D-AE19-62706E023703}">
                      <ahyp:hlinkClr val="tx"/>
                    </a:ext>
                  </a:extLst>
                </a:hlinkClick>
              </a:rPr>
              <a:t>https://www.smovengo.fr/</a:t>
            </a:r>
            <a:endParaRPr>
              <a:solidFill>
                <a:srgbClr val="F5DCA1"/>
              </a:solidFill>
              <a:latin typeface="Oswald"/>
              <a:ea typeface="Oswald"/>
              <a:cs typeface="Oswald"/>
              <a:sym typeface="Oswald"/>
            </a:endParaRPr>
          </a:p>
          <a:p>
            <a:pPr indent="-342900" lvl="0" marL="457200" rtl="0" algn="l">
              <a:lnSpc>
                <a:spcPct val="150000"/>
              </a:lnSpc>
              <a:spcBef>
                <a:spcPts val="0"/>
              </a:spcBef>
              <a:spcAft>
                <a:spcPts val="0"/>
              </a:spcAft>
              <a:buClr>
                <a:schemeClr val="dk1"/>
              </a:buClr>
              <a:buSzPts val="1800"/>
              <a:buFont typeface="Oswald"/>
              <a:buChar char="●"/>
            </a:pPr>
            <a:r>
              <a:rPr lang="fr" u="sng">
                <a:solidFill>
                  <a:srgbClr val="F5DCA1"/>
                </a:solidFill>
                <a:latin typeface="Oswald"/>
                <a:ea typeface="Oswald"/>
                <a:cs typeface="Oswald"/>
                <a:sym typeface="Oswald"/>
                <a:hlinkClick r:id="rId6">
                  <a:extLst>
                    <a:ext uri="{A12FA001-AC4F-418D-AE19-62706E023703}">
                      <ahyp:hlinkClr val="tx"/>
                    </a:ext>
                  </a:extLst>
                </a:hlinkClick>
              </a:rPr>
              <a:t>https://www.velib-metropole.fr/</a:t>
            </a:r>
            <a:endParaRPr>
              <a:solidFill>
                <a:srgbClr val="F5DCA1"/>
              </a:solidFill>
              <a:latin typeface="Oswald"/>
              <a:ea typeface="Oswald"/>
              <a:cs typeface="Oswald"/>
              <a:sym typeface="Oswald"/>
            </a:endParaRPr>
          </a:p>
        </p:txBody>
      </p:sp>
      <p:pic>
        <p:nvPicPr>
          <p:cNvPr id="191" name="Google Shape;191;p27" title="pngegg-modified.png"/>
          <p:cNvPicPr preferRelativeResize="0"/>
          <p:nvPr/>
        </p:nvPicPr>
        <p:blipFill rotWithShape="1">
          <a:blip r:embed="rId7">
            <a:alphaModFix amt="20000"/>
          </a:blip>
          <a:srcRect b="28422" l="11150" r="11041" t="28448"/>
          <a:stretch/>
        </p:blipFill>
        <p:spPr>
          <a:xfrm>
            <a:off x="3567647" y="3628100"/>
            <a:ext cx="2112100" cy="11708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pic>
        <p:nvPicPr>
          <p:cNvPr id="196" name="Google Shape;196;p28"/>
          <p:cNvPicPr preferRelativeResize="0"/>
          <p:nvPr/>
        </p:nvPicPr>
        <p:blipFill>
          <a:blip r:embed="rId3">
            <a:alphaModFix/>
          </a:blip>
          <a:stretch>
            <a:fillRect/>
          </a:stretch>
        </p:blipFill>
        <p:spPr>
          <a:xfrm>
            <a:off x="0" y="-8932"/>
            <a:ext cx="9128177" cy="5152434"/>
          </a:xfrm>
          <a:prstGeom prst="rect">
            <a:avLst/>
          </a:prstGeom>
          <a:noFill/>
          <a:ln>
            <a:noFill/>
          </a:ln>
        </p:spPr>
      </p:pic>
      <p:sp>
        <p:nvSpPr>
          <p:cNvPr id="197" name="Google Shape;197;p28"/>
          <p:cNvSpPr txBox="1"/>
          <p:nvPr/>
        </p:nvSpPr>
        <p:spPr>
          <a:xfrm>
            <a:off x="0" y="2995075"/>
            <a:ext cx="9144000" cy="1504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800">
              <a:solidFill>
                <a:schemeClr val="dk1"/>
              </a:solidFill>
              <a:latin typeface="Oswald"/>
              <a:ea typeface="Oswald"/>
              <a:cs typeface="Oswald"/>
              <a:sym typeface="Oswald"/>
            </a:endParaRPr>
          </a:p>
          <a:p>
            <a:pPr indent="0" lvl="0" marL="0" rtl="0" algn="ctr">
              <a:spcBef>
                <a:spcPts val="0"/>
              </a:spcBef>
              <a:spcAft>
                <a:spcPts val="0"/>
              </a:spcAft>
              <a:buNone/>
            </a:pPr>
            <a:r>
              <a:rPr lang="fr" sz="2400" u="sng">
                <a:solidFill>
                  <a:srgbClr val="F5DCA1"/>
                </a:solidFill>
                <a:latin typeface="Oswald"/>
                <a:ea typeface="Oswald"/>
                <a:cs typeface="Oswald"/>
                <a:sym typeface="Oswald"/>
                <a:hlinkClick r:id="rId4">
                  <a:extLst>
                    <a:ext uri="{A12FA001-AC4F-418D-AE19-62706E023703}">
                      <ahyp:hlinkClr val="tx"/>
                    </a:ext>
                  </a:extLst>
                </a:hlinkClick>
              </a:rPr>
              <a:t>contact@allisterkohn.com</a:t>
            </a:r>
            <a:endParaRPr sz="2400">
              <a:solidFill>
                <a:srgbClr val="F5DCA1"/>
              </a:solidFill>
              <a:latin typeface="Oswald"/>
              <a:ea typeface="Oswald"/>
              <a:cs typeface="Oswald"/>
              <a:sym typeface="Oswald"/>
            </a:endParaRPr>
          </a:p>
          <a:p>
            <a:pPr indent="0" lvl="0" marL="0" rtl="0" algn="ctr">
              <a:spcBef>
                <a:spcPts val="0"/>
              </a:spcBef>
              <a:spcAft>
                <a:spcPts val="0"/>
              </a:spcAft>
              <a:buNone/>
            </a:pPr>
            <a:r>
              <a:t/>
            </a:r>
            <a:endParaRPr sz="2400">
              <a:solidFill>
                <a:srgbClr val="F5DCA1"/>
              </a:solidFill>
              <a:latin typeface="Oswald"/>
              <a:ea typeface="Oswald"/>
              <a:cs typeface="Oswald"/>
              <a:sym typeface="Oswald"/>
            </a:endParaRPr>
          </a:p>
        </p:txBody>
      </p:sp>
      <p:pic>
        <p:nvPicPr>
          <p:cNvPr id="198" name="Google Shape;198;p28"/>
          <p:cNvPicPr preferRelativeResize="0"/>
          <p:nvPr/>
        </p:nvPicPr>
        <p:blipFill>
          <a:blip r:embed="rId5">
            <a:alphaModFix/>
          </a:blip>
          <a:stretch>
            <a:fillRect/>
          </a:stretch>
        </p:blipFill>
        <p:spPr>
          <a:xfrm>
            <a:off x="4282675" y="2886775"/>
            <a:ext cx="562825" cy="5628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late">
  <a:themeElements>
    <a:clrScheme name="Slate">
      <a:dk1>
        <a:srgbClr val="FFFFFF"/>
      </a:dk1>
      <a:lt1>
        <a:srgbClr val="37474F"/>
      </a:lt1>
      <a:dk2>
        <a:srgbClr val="9E9E9E"/>
      </a:dk2>
      <a:lt2>
        <a:srgbClr val="E0E0E0"/>
      </a:lt2>
      <a:accent1>
        <a:srgbClr val="616161"/>
      </a:accent1>
      <a:accent2>
        <a:srgbClr val="78909C"/>
      </a:accent2>
      <a:accent3>
        <a:srgbClr val="CACACA"/>
      </a:accent3>
      <a:accent4>
        <a:srgbClr val="64FFDA"/>
      </a:accent4>
      <a:accent5>
        <a:srgbClr val="FFD966"/>
      </a:accent5>
      <a:accent6>
        <a:srgbClr val="F5F5F5"/>
      </a:accent6>
      <a:hlink>
        <a:srgbClr val="FFD966"/>
      </a:hlink>
      <a:folHlink>
        <a:srgbClr val="FFD96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